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sldIdLst>
    <p:sldId id="256" r:id="rId2"/>
    <p:sldId id="257" r:id="rId3"/>
    <p:sldId id="258" r:id="rId4"/>
    <p:sldId id="259" r:id="rId5"/>
    <p:sldId id="260" r:id="rId6"/>
    <p:sldId id="277" r:id="rId7"/>
    <p:sldId id="261" r:id="rId8"/>
    <p:sldId id="262" r:id="rId9"/>
    <p:sldId id="263" r:id="rId10"/>
    <p:sldId id="265" r:id="rId11"/>
    <p:sldId id="266" r:id="rId12"/>
    <p:sldId id="267" r:id="rId13"/>
    <p:sldId id="268" r:id="rId14"/>
    <p:sldId id="269" r:id="rId15"/>
    <p:sldId id="275" r:id="rId16"/>
    <p:sldId id="271" r:id="rId17"/>
    <p:sldId id="276" r:id="rId18"/>
    <p:sldId id="273" r:id="rId19"/>
    <p:sldId id="274" r:id="rId20"/>
    <p:sldId id="279"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CBF78-C7F5-4B7B-A412-337C3BEEA6F7}"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B6145-31CD-49B1-A5F6-04D304C031E0}" type="slidenum">
              <a:rPr lang="en-IN" smtClean="0"/>
              <a:t>‹#›</a:t>
            </a:fld>
            <a:endParaRPr lang="en-IN"/>
          </a:p>
        </p:txBody>
      </p:sp>
    </p:spTree>
    <p:extLst>
      <p:ext uri="{BB962C8B-B14F-4D97-AF65-F5344CB8AC3E}">
        <p14:creationId xmlns:p14="http://schemas.microsoft.com/office/powerpoint/2010/main" val="380731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B6145-31CD-49B1-A5F6-04D304C031E0}" type="slidenum">
              <a:rPr lang="en-IN" smtClean="0"/>
              <a:t>5</a:t>
            </a:fld>
            <a:endParaRPr lang="en-IN"/>
          </a:p>
        </p:txBody>
      </p:sp>
    </p:spTree>
    <p:extLst>
      <p:ext uri="{BB962C8B-B14F-4D97-AF65-F5344CB8AC3E}">
        <p14:creationId xmlns:p14="http://schemas.microsoft.com/office/powerpoint/2010/main" val="144270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60120-4376-7519-C64D-F0F83E1AA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4DE29-AE28-268C-F448-6EC32500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6D2B1-7FCD-DD37-2900-746F710DB7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8CEC01-04BD-259E-A535-8DFFFFAED841}"/>
              </a:ext>
            </a:extLst>
          </p:cNvPr>
          <p:cNvSpPr>
            <a:spLocks noGrp="1"/>
          </p:cNvSpPr>
          <p:nvPr>
            <p:ph type="sldNum" sz="quarter" idx="5"/>
          </p:nvPr>
        </p:nvSpPr>
        <p:spPr/>
        <p:txBody>
          <a:bodyPr/>
          <a:lstStyle/>
          <a:p>
            <a:fld id="{BA8B6145-31CD-49B1-A5F6-04D304C031E0}" type="slidenum">
              <a:rPr lang="en-IN" smtClean="0"/>
              <a:t>6</a:t>
            </a:fld>
            <a:endParaRPr lang="en-IN"/>
          </a:p>
        </p:txBody>
      </p:sp>
    </p:spTree>
    <p:extLst>
      <p:ext uri="{BB962C8B-B14F-4D97-AF65-F5344CB8AC3E}">
        <p14:creationId xmlns:p14="http://schemas.microsoft.com/office/powerpoint/2010/main" val="27571921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1120118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51050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102743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59D79D-E0B5-4CF6-9D9D-55B64B89650C}"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36893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79D-E0B5-4CF6-9D9D-55B64B89650C}"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1957383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79D-E0B5-4CF6-9D9D-55B64B89650C}" type="datetimeFigureOut">
              <a:rPr lang="en-IN" smtClean="0"/>
              <a:t>05-03-2026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886805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79D-E0B5-4CF6-9D9D-55B64B89650C}" type="datetimeFigureOut">
              <a:rPr lang="en-IN" smtClean="0"/>
              <a:t>05-03-2026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609447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79D-E0B5-4CF6-9D9D-55B64B89650C}"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33604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79D-E0B5-4CF6-9D9D-55B64B89650C}"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866713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159D79D-E0B5-4CF6-9D9D-55B64B89650C}" type="datetimeFigureOut">
              <a:rPr lang="en-IN" smtClean="0"/>
              <a:t>05-03-2026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52895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902332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5798239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4056857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159D79D-E0B5-4CF6-9D9D-55B64B89650C}" type="datetimeFigureOut">
              <a:rPr lang="en-IN" smtClean="0"/>
              <a:t>05-03-2026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7943588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159D79D-E0B5-4CF6-9D9D-55B64B89650C}" type="datetimeFigureOut">
              <a:rPr lang="en-IN" smtClean="0"/>
              <a:t>05-03-2026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27230695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3185243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159D79D-E0B5-4CF6-9D9D-55B64B89650C}" type="datetimeFigureOut">
              <a:rPr lang="en-IN" smtClean="0"/>
              <a:t>05-03-2026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E9D1A5E-8A58-4976-AC7D-F441081B7362}" type="slidenum">
              <a:rPr lang="en-IN" smtClean="0"/>
              <a:t>‹#›</a:t>
            </a:fld>
            <a:endParaRPr lang="en-IN"/>
          </a:p>
        </p:txBody>
      </p:sp>
    </p:spTree>
    <p:extLst>
      <p:ext uri="{BB962C8B-B14F-4D97-AF65-F5344CB8AC3E}">
        <p14:creationId xmlns:p14="http://schemas.microsoft.com/office/powerpoint/2010/main" val="4250116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159D79D-E0B5-4CF6-9D9D-55B64B89650C}" type="datetimeFigureOut">
              <a:rPr lang="en-IN" smtClean="0"/>
              <a:t>05-03-2026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E9D1A5E-8A58-4976-AC7D-F441081B7362}" type="slidenum">
              <a:rPr lang="en-IN" smtClean="0"/>
              <a:t>‹#›</a:t>
            </a:fld>
            <a:endParaRPr lang="en-IN"/>
          </a:p>
        </p:txBody>
      </p:sp>
    </p:spTree>
    <p:extLst>
      <p:ext uri="{BB962C8B-B14F-4D97-AF65-F5344CB8AC3E}">
        <p14:creationId xmlns:p14="http://schemas.microsoft.com/office/powerpoint/2010/main" val="15646782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ixabay.com/en/thank-you-gratitude-appreciation-490607/" TargetMode="External"/><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155D-85E0-8CB3-59D9-7FB99DCB5E51}"/>
              </a:ext>
            </a:extLst>
          </p:cNvPr>
          <p:cNvSpPr>
            <a:spLocks noGrp="1"/>
          </p:cNvSpPr>
          <p:nvPr>
            <p:ph type="title"/>
          </p:nvPr>
        </p:nvSpPr>
        <p:spPr/>
        <p:txBody>
          <a:bodyPr>
            <a:normAutofit fontScale="90000"/>
          </a:bodyPr>
          <a:lstStyle/>
          <a:p>
            <a:r>
              <a:rPr lang="en-IN" sz="6000" dirty="0" err="1">
                <a:latin typeface="Sitka Small" panose="02000505000000020004" pitchFamily="2" charset="0"/>
                <a:cs typeface="Times New Roman" panose="02020603050405020304" pitchFamily="18" charset="0"/>
              </a:rPr>
              <a:t>Astrosage</a:t>
            </a:r>
            <a:r>
              <a:rPr lang="en-IN" sz="6000" dirty="0">
                <a:latin typeface="Sitka Small" panose="02000505000000020004" pitchFamily="2" charset="0"/>
                <a:cs typeface="Times New Roman" panose="02020603050405020304" pitchFamily="18" charset="0"/>
              </a:rPr>
              <a:t> Analysis</a:t>
            </a:r>
          </a:p>
        </p:txBody>
      </p:sp>
      <p:pic>
        <p:nvPicPr>
          <p:cNvPr id="6" name="Picture Placeholder 5">
            <a:extLst>
              <a:ext uri="{FF2B5EF4-FFF2-40B4-BE49-F238E27FC236}">
                <a16:creationId xmlns:a16="http://schemas.microsoft.com/office/drawing/2014/main" id="{3462DA3E-E786-B455-1C94-B49059E84AE2}"/>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31470" r="31470"/>
          <a:stretch>
            <a:fillRect/>
          </a:stretch>
        </p:blipFill>
        <p:spPr/>
      </p:pic>
      <p:sp>
        <p:nvSpPr>
          <p:cNvPr id="3" name="Subtitle 2">
            <a:extLst>
              <a:ext uri="{FF2B5EF4-FFF2-40B4-BE49-F238E27FC236}">
                <a16:creationId xmlns:a16="http://schemas.microsoft.com/office/drawing/2014/main" id="{9BACE476-3BD8-EA66-C2D9-EAA783461288}"/>
              </a:ext>
            </a:extLst>
          </p:cNvPr>
          <p:cNvSpPr>
            <a:spLocks noGrp="1"/>
          </p:cNvSpPr>
          <p:nvPr>
            <p:ph type="body" sz="half" idx="2"/>
          </p:nvPr>
        </p:nvSpPr>
        <p:spPr/>
        <p:txBody>
          <a:bodyPr>
            <a:noAutofit/>
          </a:bodyPr>
          <a:lstStyle/>
          <a:p>
            <a:r>
              <a:rPr lang="en-IN" sz="4800" dirty="0">
                <a:solidFill>
                  <a:schemeClr val="bg1"/>
                </a:solidFill>
              </a:rPr>
              <a:t>Mohit </a:t>
            </a:r>
            <a:r>
              <a:rPr lang="en-IN" sz="4800" dirty="0" err="1">
                <a:solidFill>
                  <a:schemeClr val="bg1"/>
                </a:solidFill>
              </a:rPr>
              <a:t>kumar</a:t>
            </a:r>
            <a:endParaRPr lang="en-IN" sz="4800" dirty="0">
              <a:solidFill>
                <a:schemeClr val="bg1"/>
              </a:solidFill>
            </a:endParaRPr>
          </a:p>
          <a:p>
            <a:r>
              <a:rPr lang="en-IN" sz="4800" dirty="0">
                <a:solidFill>
                  <a:schemeClr val="bg1"/>
                </a:solidFill>
              </a:rPr>
              <a:t>15-10-25</a:t>
            </a:r>
          </a:p>
        </p:txBody>
      </p:sp>
    </p:spTree>
    <p:extLst>
      <p:ext uri="{BB962C8B-B14F-4D97-AF65-F5344CB8AC3E}">
        <p14:creationId xmlns:p14="http://schemas.microsoft.com/office/powerpoint/2010/main" val="1662718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71AD-216A-46EE-743C-E1D21144BC98}"/>
              </a:ext>
            </a:extLst>
          </p:cNvPr>
          <p:cNvSpPr>
            <a:spLocks noGrp="1"/>
          </p:cNvSpPr>
          <p:nvPr>
            <p:ph type="title"/>
          </p:nvPr>
        </p:nvSpPr>
        <p:spPr>
          <a:xfrm>
            <a:off x="2961735" y="235788"/>
            <a:ext cx="6072997" cy="1052423"/>
          </a:xfrm>
        </p:spPr>
        <p:txBody>
          <a:bodyPr>
            <a:normAutofit/>
          </a:bodyPr>
          <a:lstStyle/>
          <a:p>
            <a:r>
              <a:rPr lang="en-IN" b="1" dirty="0">
                <a:latin typeface="Times New Roman" panose="02020603050405020304" pitchFamily="18" charset="0"/>
                <a:cs typeface="Times New Roman" panose="02020603050405020304" pitchFamily="18" charset="0"/>
              </a:rPr>
              <a:t>Introduction to </a:t>
            </a:r>
            <a:r>
              <a:rPr lang="en-IN" b="1" dirty="0" err="1">
                <a:latin typeface="Times New Roman" panose="02020603050405020304" pitchFamily="18" charset="0"/>
                <a:cs typeface="Times New Roman" panose="02020603050405020304" pitchFamily="18" charset="0"/>
              </a:rPr>
              <a:t>Astrosage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FE89F6-8AE9-3E36-3DEA-08C78440638A}"/>
              </a:ext>
            </a:extLst>
          </p:cNvPr>
          <p:cNvSpPr>
            <a:spLocks noGrp="1"/>
          </p:cNvSpPr>
          <p:nvPr>
            <p:ph idx="1"/>
          </p:nvPr>
        </p:nvSpPr>
        <p:spPr>
          <a:xfrm>
            <a:off x="943896" y="2548918"/>
            <a:ext cx="9872871" cy="2808963"/>
          </a:xfrm>
        </p:spPr>
        <p:txBody>
          <a:bodyPr>
            <a:noAutofit/>
          </a:bodyPr>
          <a:lstStyle/>
          <a:p>
            <a:pPr marL="45720" indent="0" algn="just">
              <a:spcBef>
                <a:spcPts val="1800"/>
              </a:spcBef>
              <a:buNone/>
            </a:pPr>
            <a:r>
              <a:rPr lang="en-US" dirty="0" err="1"/>
              <a:t>AstroSage</a:t>
            </a:r>
            <a:r>
              <a:rPr lang="en-US" dirty="0"/>
              <a:t> is a leading astrology platform offering horoscope matching, birth chart generation, and AI astrologers. It is widely used by Hindus and astrologers for making important life decisions like marriage, business, and moving to a new home.</a:t>
            </a:r>
          </a:p>
          <a:p>
            <a:pPr marL="45720" indent="0" algn="just">
              <a:spcBef>
                <a:spcPts val="1800"/>
              </a:spcBef>
              <a:buNone/>
            </a:pPr>
            <a:r>
              <a:rPr lang="en-US" dirty="0"/>
              <a:t>It is known as one of the most authentic astrology sources, helping people with both daily and specialized queries through the divine science of astrology.</a:t>
            </a:r>
          </a:p>
        </p:txBody>
      </p:sp>
      <p:sp>
        <p:nvSpPr>
          <p:cNvPr id="5" name="TextBox 4">
            <a:extLst>
              <a:ext uri="{FF2B5EF4-FFF2-40B4-BE49-F238E27FC236}">
                <a16:creationId xmlns:a16="http://schemas.microsoft.com/office/drawing/2014/main" id="{05EA0EAF-1E9E-66C5-5DD9-923394DC9868}"/>
              </a:ext>
            </a:extLst>
          </p:cNvPr>
          <p:cNvSpPr txBox="1"/>
          <p:nvPr/>
        </p:nvSpPr>
        <p:spPr>
          <a:xfrm>
            <a:off x="958645" y="4704546"/>
            <a:ext cx="7118290" cy="1569660"/>
          </a:xfrm>
          <a:prstGeom prst="rect">
            <a:avLst/>
          </a:prstGeom>
          <a:noFill/>
        </p:spPr>
        <p:txBody>
          <a:bodyPr wrap="square" rtlCol="0">
            <a:spAutoFit/>
          </a:bodyPr>
          <a:lstStyle/>
          <a:p>
            <a:pPr marL="45720" indent="0" algn="just">
              <a:spcBef>
                <a:spcPts val="1800"/>
              </a:spcBef>
              <a:buNone/>
            </a:pPr>
            <a:r>
              <a:rPr lang="en-US" sz="2400" dirty="0">
                <a:solidFill>
                  <a:schemeClr val="accent1"/>
                </a:solidFill>
                <a:latin typeface="Times New Roman" panose="02020603050405020304" pitchFamily="18" charset="0"/>
                <a:cs typeface="Times New Roman" panose="02020603050405020304" pitchFamily="18" charset="0"/>
              </a:rPr>
              <a:t>Founded in 2000 by Pt. Punit Pandey, </a:t>
            </a:r>
            <a:r>
              <a:rPr lang="en-US" sz="2400" dirty="0" err="1">
                <a:solidFill>
                  <a:schemeClr val="accent1"/>
                </a:solidFill>
                <a:latin typeface="Times New Roman" panose="02020603050405020304" pitchFamily="18" charset="0"/>
                <a:cs typeface="Times New Roman" panose="02020603050405020304" pitchFamily="18" charset="0"/>
              </a:rPr>
              <a:t>AstroSage</a:t>
            </a:r>
            <a:r>
              <a:rPr lang="en-US" sz="2400" dirty="0">
                <a:solidFill>
                  <a:schemeClr val="accent1"/>
                </a:solidFill>
                <a:latin typeface="Times New Roman" panose="02020603050405020304" pitchFamily="18" charset="0"/>
                <a:cs typeface="Times New Roman" panose="02020603050405020304" pitchFamily="18" charset="0"/>
              </a:rPr>
              <a:t> is guided by expert astrologers from different schools like KP, Lal Kitab, and Nadi to provide accurate and practical astrological insights.</a:t>
            </a:r>
            <a:endParaRPr lang="en-IN" sz="2400" dirty="0">
              <a:solidFill>
                <a:schemeClr val="accent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94F95C7-397E-2DB1-7770-E5F9BE4A437B}"/>
              </a:ext>
            </a:extLst>
          </p:cNvPr>
          <p:cNvPicPr>
            <a:picLocks noChangeAspect="1"/>
          </p:cNvPicPr>
          <p:nvPr/>
        </p:nvPicPr>
        <p:blipFill>
          <a:blip r:embed="rId2">
            <a:extLst>
              <a:ext uri="{28A0092B-C50C-407E-A947-70E740481C1C}">
                <a14:useLocalDpi xmlns:a14="http://schemas.microsoft.com/office/drawing/2010/main" val="0"/>
              </a:ext>
            </a:extLst>
          </a:blip>
          <a:srcRect l="22253" t="25682" r="17308" b="20766"/>
          <a:stretch>
            <a:fillRect/>
          </a:stretch>
        </p:blipFill>
        <p:spPr>
          <a:xfrm>
            <a:off x="8273845" y="4439265"/>
            <a:ext cx="3244645" cy="1445341"/>
          </a:xfrm>
          <a:prstGeom prst="rect">
            <a:avLst/>
          </a:prstGeom>
        </p:spPr>
      </p:pic>
    </p:spTree>
    <p:extLst>
      <p:ext uri="{BB962C8B-B14F-4D97-AF65-F5344CB8AC3E}">
        <p14:creationId xmlns:p14="http://schemas.microsoft.com/office/powerpoint/2010/main" val="73087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091A9-A3D1-05F8-2364-16E4D9322B72}"/>
              </a:ext>
            </a:extLst>
          </p:cNvPr>
          <p:cNvSpPr>
            <a:spLocks noGrp="1"/>
          </p:cNvSpPr>
          <p:nvPr>
            <p:ph type="title"/>
          </p:nvPr>
        </p:nvSpPr>
        <p:spPr>
          <a:xfrm>
            <a:off x="3723017" y="427008"/>
            <a:ext cx="4613694" cy="782128"/>
          </a:xfrm>
        </p:spPr>
        <p:txBody>
          <a:bodyPr>
            <a:normAutofit/>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B3DEF2E-7FC9-AF06-1027-886AACC20424}"/>
              </a:ext>
            </a:extLst>
          </p:cNvPr>
          <p:cNvSpPr>
            <a:spLocks noGrp="1"/>
          </p:cNvSpPr>
          <p:nvPr>
            <p:ph idx="1"/>
          </p:nvPr>
        </p:nvSpPr>
        <p:spPr>
          <a:xfrm>
            <a:off x="753374" y="1209136"/>
            <a:ext cx="10552981" cy="1489494"/>
          </a:xfrm>
        </p:spPr>
        <p:txBody>
          <a:bodyPr>
            <a:noAutofit/>
          </a:bodyPr>
          <a:lstStyle/>
          <a:p>
            <a:pPr marL="45720" indent="0" algn="just">
              <a:buNone/>
            </a:pPr>
            <a:r>
              <a:rPr lang="en-US" sz="2400" dirty="0" err="1">
                <a:solidFill>
                  <a:schemeClr val="bg1"/>
                </a:solidFill>
                <a:highlight>
                  <a:srgbClr val="C0C0C0"/>
                </a:highlight>
                <a:latin typeface="Sitka Banner" panose="02000505000000020004" pitchFamily="2" charset="0"/>
                <a:cs typeface="Times New Roman" panose="02020603050405020304" pitchFamily="18" charset="0"/>
              </a:rPr>
              <a:t>AstroSage</a:t>
            </a:r>
            <a:r>
              <a:rPr lang="en-US" sz="2400" dirty="0">
                <a:solidFill>
                  <a:schemeClr val="bg1"/>
                </a:solidFill>
                <a:highlight>
                  <a:srgbClr val="C0C0C0"/>
                </a:highlight>
                <a:latin typeface="Sitka Banner" panose="02000505000000020004" pitchFamily="2" charset="0"/>
                <a:cs typeface="Times New Roman" panose="02020603050405020304" pitchFamily="18" charset="0"/>
              </a:rPr>
              <a:t>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a:t>
            </a:r>
            <a:r>
              <a:rPr lang="en-US" sz="2400" dirty="0">
                <a:solidFill>
                  <a:schemeClr val="bg1"/>
                </a:solidFill>
                <a:latin typeface="Sitka Banner" panose="02000505000000020004" pitchFamily="2" charset="0"/>
                <a:cs typeface="Times New Roman" panose="02020603050405020304" pitchFamily="18" charset="0"/>
              </a:rPr>
              <a:t>formed decisions.</a:t>
            </a:r>
          </a:p>
        </p:txBody>
      </p:sp>
      <p:pic>
        <p:nvPicPr>
          <p:cNvPr id="2050" name="Picture 2">
            <a:extLst>
              <a:ext uri="{FF2B5EF4-FFF2-40B4-BE49-F238E27FC236}">
                <a16:creationId xmlns:a16="http://schemas.microsoft.com/office/drawing/2014/main" id="{8246BAE7-22F5-B520-D787-C580F17B4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374" y="2884099"/>
            <a:ext cx="10552981" cy="373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819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1C33-F9D8-6589-B1B8-EC52AFB4B87E}"/>
              </a:ext>
            </a:extLst>
          </p:cNvPr>
          <p:cNvSpPr>
            <a:spLocks noGrp="1"/>
          </p:cNvSpPr>
          <p:nvPr>
            <p:ph type="title"/>
          </p:nvPr>
        </p:nvSpPr>
        <p:spPr>
          <a:xfrm>
            <a:off x="3328358" y="520462"/>
            <a:ext cx="5401574" cy="701615"/>
          </a:xfrm>
        </p:spPr>
        <p:txBody>
          <a:bodyPr>
            <a:normAutofit/>
          </a:bodyPr>
          <a:lstStyle/>
          <a:p>
            <a:r>
              <a:rPr lang="en-IN" b="1" dirty="0">
                <a:latin typeface="SimSun" panose="02010600030101010101" pitchFamily="2" charset="-122"/>
                <a:ea typeface="SimSun" panose="02010600030101010101" pitchFamily="2" charset="-122"/>
                <a:cs typeface="Times New Roman" panose="02020603050405020304" pitchFamily="18" charset="0"/>
              </a:rPr>
              <a:t>ATTRIBUTES</a:t>
            </a:r>
            <a:r>
              <a:rPr lang="en-IN" b="1" dirty="0">
                <a:latin typeface="Times New Roman" panose="02020603050405020304" pitchFamily="18" charset="0"/>
                <a:cs typeface="Times New Roman" panose="02020603050405020304" pitchFamily="18" charset="0"/>
              </a:rPr>
              <a:t> USED</a:t>
            </a:r>
          </a:p>
        </p:txBody>
      </p:sp>
      <p:sp>
        <p:nvSpPr>
          <p:cNvPr id="3" name="Content Placeholder 2">
            <a:extLst>
              <a:ext uri="{FF2B5EF4-FFF2-40B4-BE49-F238E27FC236}">
                <a16:creationId xmlns:a16="http://schemas.microsoft.com/office/drawing/2014/main" id="{8862C894-FE10-8A91-C2A3-6075882D19FC}"/>
              </a:ext>
            </a:extLst>
          </p:cNvPr>
          <p:cNvSpPr>
            <a:spLocks noGrp="1"/>
          </p:cNvSpPr>
          <p:nvPr>
            <p:ph idx="1"/>
          </p:nvPr>
        </p:nvSpPr>
        <p:spPr>
          <a:xfrm>
            <a:off x="516147" y="1222077"/>
            <a:ext cx="5049327" cy="5428890"/>
          </a:xfrm>
        </p:spPr>
        <p:txBody>
          <a:bodyPr>
            <a:noAutofit/>
          </a:bodyPr>
          <a:lstStyle/>
          <a:p>
            <a:pPr fontAlgn="base"/>
            <a:r>
              <a:rPr lang="en-US" sz="2400" b="1" dirty="0">
                <a:solidFill>
                  <a:schemeClr val="tx1"/>
                </a:solidFill>
                <a:latin typeface="Times New Roman" panose="02020603050405020304" pitchFamily="18" charset="0"/>
                <a:cs typeface="Times New Roman" panose="02020603050405020304" pitchFamily="18" charset="0"/>
              </a:rPr>
              <a:t>_id: </a:t>
            </a:r>
            <a:r>
              <a:rPr lang="en-US" sz="2400" dirty="0">
                <a:solidFill>
                  <a:schemeClr val="tx1"/>
                </a:solidFill>
                <a:latin typeface="Times New Roman" panose="02020603050405020304" pitchFamily="18" charset="0"/>
                <a:cs typeface="Times New Roman" panose="02020603050405020304" pitchFamily="18" charset="0"/>
              </a:rPr>
              <a:t>Unique identifier for each record.</a:t>
            </a:r>
          </a:p>
          <a:p>
            <a:pPr fontAlgn="base"/>
            <a:r>
              <a:rPr lang="en-US" sz="2400" b="1" dirty="0">
                <a:solidFill>
                  <a:schemeClr val="tx1"/>
                </a:solidFill>
                <a:latin typeface="Times New Roman" panose="02020603050405020304" pitchFamily="18" charset="0"/>
                <a:cs typeface="Times New Roman" panose="02020603050405020304" pitchFamily="18" charset="0"/>
              </a:rPr>
              <a:t>user:</a:t>
            </a:r>
            <a:r>
              <a:rPr lang="en-US" sz="2400" dirty="0">
                <a:solidFill>
                  <a:schemeClr val="tx1"/>
                </a:solidFill>
                <a:latin typeface="Times New Roman" panose="02020603050405020304" pitchFamily="18" charset="0"/>
                <a:cs typeface="Times New Roman" panose="02020603050405020304" pitchFamily="18" charset="0"/>
              </a:rPr>
              <a:t> User ID associated with the record.</a:t>
            </a:r>
          </a:p>
          <a:p>
            <a:pPr fontAlgn="base"/>
            <a:r>
              <a:rPr lang="en-US" sz="2400" b="1" dirty="0" err="1">
                <a:solidFill>
                  <a:schemeClr val="tx1"/>
                </a:solidFill>
                <a:latin typeface="Times New Roman" panose="02020603050405020304" pitchFamily="18" charset="0"/>
                <a:cs typeface="Times New Roman" panose="02020603050405020304" pitchFamily="18" charset="0"/>
              </a:rPr>
              <a:t>chatStatus</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Status of the chat.</a:t>
            </a:r>
          </a:p>
          <a:p>
            <a:pPr fontAlgn="base"/>
            <a:r>
              <a:rPr lang="en-US" sz="2400" b="1" dirty="0">
                <a:solidFill>
                  <a:schemeClr val="tx1"/>
                </a:solidFill>
                <a:latin typeface="Times New Roman" panose="02020603050405020304" pitchFamily="18" charset="0"/>
                <a:cs typeface="Times New Roman" panose="02020603050405020304" pitchFamily="18" charset="0"/>
              </a:rPr>
              <a:t>guru:</a:t>
            </a:r>
            <a:r>
              <a:rPr lang="en-US" sz="2400" dirty="0">
                <a:solidFill>
                  <a:schemeClr val="tx1"/>
                </a:solidFill>
                <a:latin typeface="Times New Roman" panose="02020603050405020304" pitchFamily="18" charset="0"/>
                <a:cs typeface="Times New Roman" panose="02020603050405020304" pitchFamily="18" charset="0"/>
              </a:rPr>
              <a:t> Unique identifier for the guru.</a:t>
            </a:r>
          </a:p>
          <a:p>
            <a:pPr fontAlgn="base"/>
            <a:r>
              <a:rPr lang="en-US" sz="2400" b="1" dirty="0" err="1">
                <a:solidFill>
                  <a:schemeClr val="tx1"/>
                </a:solidFill>
                <a:latin typeface="Times New Roman" panose="02020603050405020304" pitchFamily="18" charset="0"/>
                <a:cs typeface="Times New Roman" panose="02020603050405020304" pitchFamily="18" charset="0"/>
              </a:rPr>
              <a:t>guruName</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Name of the guru.</a:t>
            </a:r>
          </a:p>
          <a:p>
            <a:pPr fontAlgn="base"/>
            <a:r>
              <a:rPr lang="en-US" sz="2400" b="1" dirty="0">
                <a:solidFill>
                  <a:schemeClr val="tx1"/>
                </a:solidFill>
                <a:latin typeface="Times New Roman" panose="02020603050405020304" pitchFamily="18" charset="0"/>
                <a:cs typeface="Times New Roman" panose="02020603050405020304" pitchFamily="18" charset="0"/>
              </a:rPr>
              <a:t>gid: </a:t>
            </a:r>
            <a:r>
              <a:rPr lang="en-US" sz="2400" dirty="0">
                <a:solidFill>
                  <a:schemeClr val="tx1"/>
                </a:solidFill>
                <a:latin typeface="Times New Roman" panose="02020603050405020304" pitchFamily="18" charset="0"/>
                <a:cs typeface="Times New Roman" panose="02020603050405020304" pitchFamily="18" charset="0"/>
              </a:rPr>
              <a:t>Guru ID.</a:t>
            </a:r>
          </a:p>
          <a:p>
            <a:pPr fontAlgn="base"/>
            <a:r>
              <a:rPr lang="en-US" sz="2400" b="1" dirty="0" err="1">
                <a:solidFill>
                  <a:schemeClr val="tx1"/>
                </a:solidFill>
                <a:latin typeface="Times New Roman" panose="02020603050405020304" pitchFamily="18" charset="0"/>
                <a:cs typeface="Times New Roman" panose="02020603050405020304" pitchFamily="18" charset="0"/>
              </a:rPr>
              <a:t>uid</a:t>
            </a:r>
            <a:r>
              <a:rPr lang="en-US" sz="2400" b="1" dirty="0">
                <a:solidFill>
                  <a:schemeClr val="tx1"/>
                </a:solidFill>
                <a:latin typeface="Times New Roman" panose="02020603050405020304" pitchFamily="18" charset="0"/>
                <a:cs typeface="Times New Roman" panose="02020603050405020304" pitchFamily="18" charset="0"/>
              </a:rPr>
              <a:t>:</a:t>
            </a:r>
            <a:r>
              <a:rPr lang="en-US" sz="2400" dirty="0">
                <a:solidFill>
                  <a:schemeClr val="tx1"/>
                </a:solidFill>
                <a:latin typeface="Times New Roman" panose="02020603050405020304" pitchFamily="18" charset="0"/>
                <a:cs typeface="Times New Roman" panose="02020603050405020304" pitchFamily="18" charset="0"/>
              </a:rPr>
              <a:t> User ID.</a:t>
            </a:r>
          </a:p>
          <a:p>
            <a:pPr fontAlgn="base"/>
            <a:r>
              <a:rPr lang="en-US" sz="2400" b="1" dirty="0">
                <a:solidFill>
                  <a:schemeClr val="tx1"/>
                </a:solidFill>
                <a:latin typeface="Times New Roman" panose="02020603050405020304" pitchFamily="18" charset="0"/>
                <a:cs typeface="Times New Roman" panose="02020603050405020304" pitchFamily="18" charset="0"/>
              </a:rPr>
              <a:t>consultation Type:</a:t>
            </a:r>
            <a:r>
              <a:rPr lang="en-US" sz="2400" dirty="0">
                <a:solidFill>
                  <a:schemeClr val="tx1"/>
                </a:solidFill>
                <a:latin typeface="Times New Roman" panose="02020603050405020304" pitchFamily="18" charset="0"/>
                <a:cs typeface="Times New Roman" panose="02020603050405020304" pitchFamily="18" charset="0"/>
              </a:rPr>
              <a:t> Type of consultation.</a:t>
            </a:r>
          </a:p>
          <a:p>
            <a:pPr fontAlgn="base"/>
            <a:r>
              <a:rPr lang="en-US" sz="2400" b="1" dirty="0">
                <a:solidFill>
                  <a:schemeClr val="tx1"/>
                </a:solidFill>
                <a:latin typeface="Times New Roman" panose="02020603050405020304" pitchFamily="18" charset="0"/>
                <a:cs typeface="Times New Roman" panose="02020603050405020304" pitchFamily="18" charset="0"/>
              </a:rPr>
              <a:t>website:</a:t>
            </a:r>
            <a:r>
              <a:rPr lang="en-US" sz="2400" dirty="0">
                <a:solidFill>
                  <a:schemeClr val="tx1"/>
                </a:solidFill>
                <a:latin typeface="Times New Roman" panose="02020603050405020304" pitchFamily="18" charset="0"/>
                <a:cs typeface="Times New Roman" panose="02020603050405020304" pitchFamily="18" charset="0"/>
              </a:rPr>
              <a:t> Source of the consultation.</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9B4FA18-2E16-58E4-C95A-359537DDA10F}"/>
              </a:ext>
            </a:extLst>
          </p:cNvPr>
          <p:cNvSpPr txBox="1"/>
          <p:nvPr/>
        </p:nvSpPr>
        <p:spPr>
          <a:xfrm>
            <a:off x="5879621" y="1222077"/>
            <a:ext cx="5700623" cy="5565947"/>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Refund Status:</a:t>
            </a:r>
            <a:r>
              <a:rPr lang="en-US" sz="2400" dirty="0">
                <a:latin typeface="Times New Roman" panose="02020603050405020304" pitchFamily="18" charset="0"/>
                <a:cs typeface="Times New Roman" panose="02020603050405020304" pitchFamily="18" charset="0"/>
              </a:rPr>
              <a:t> Indicates if the session is refundable or not.</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is </a:t>
            </a:r>
            <a:r>
              <a:rPr lang="en-US" sz="2400" b="1" dirty="0" err="1">
                <a:latin typeface="Times New Roman" panose="02020603050405020304" pitchFamily="18" charset="0"/>
                <a:cs typeface="Times New Roman" panose="02020603050405020304" pitchFamily="18" charset="0"/>
              </a:rPr>
              <a:t>WhiteList</a:t>
            </a:r>
            <a:r>
              <a:rPr lang="en-US" sz="2400" b="1" dirty="0">
                <a:latin typeface="Times New Roman" panose="02020603050405020304" pitchFamily="18" charset="0"/>
                <a:cs typeface="Times New Roman" panose="02020603050405020304" pitchFamily="18" charset="0"/>
              </a:rPr>
              <a:t> User:</a:t>
            </a:r>
            <a:r>
              <a:rPr lang="en-US" sz="2400" dirty="0">
                <a:latin typeface="Times New Roman" panose="02020603050405020304" pitchFamily="18" charset="0"/>
                <a:cs typeface="Times New Roman" panose="02020603050405020304" pitchFamily="18" charset="0"/>
              </a:rPr>
              <a:t> Boolean indicating if the user is whitelisted.</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chat Seconds:</a:t>
            </a:r>
            <a:r>
              <a:rPr lang="en-US" sz="2400" dirty="0">
                <a:latin typeface="Times New Roman" panose="02020603050405020304" pitchFamily="18" charset="0"/>
                <a:cs typeface="Times New Roman" panose="02020603050405020304" pitchFamily="18" charset="0"/>
              </a:rPr>
              <a:t> Duration of the chat in seconds.</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queue:</a:t>
            </a:r>
            <a:r>
              <a:rPr lang="en-US" sz="2400" dirty="0">
                <a:latin typeface="Times New Roman" panose="02020603050405020304" pitchFamily="18" charset="0"/>
                <a:cs typeface="Times New Roman" panose="02020603050405020304" pitchFamily="18" charset="0"/>
              </a:rPr>
              <a:t> Boolean indicating if the session was queued.</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FreeCall</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Boolean indicating if the call was free.</a:t>
            </a:r>
          </a:p>
        </p:txBody>
      </p:sp>
    </p:spTree>
    <p:extLst>
      <p:ext uri="{BB962C8B-B14F-4D97-AF65-F5344CB8AC3E}">
        <p14:creationId xmlns:p14="http://schemas.microsoft.com/office/powerpoint/2010/main" val="256441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1457F-094C-D0B6-5C5F-F0B4E7C8E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B2043-E45F-CCA9-F1F5-35BB6B8D5D4C}"/>
              </a:ext>
            </a:extLst>
          </p:cNvPr>
          <p:cNvSpPr>
            <a:spLocks noGrp="1"/>
          </p:cNvSpPr>
          <p:nvPr>
            <p:ph type="title"/>
          </p:nvPr>
        </p:nvSpPr>
        <p:spPr>
          <a:xfrm>
            <a:off x="3192493" y="352963"/>
            <a:ext cx="5401574" cy="701615"/>
          </a:xfrm>
        </p:spPr>
        <p:txBody>
          <a:bodyPr>
            <a:normAutofit/>
          </a:bodyPr>
          <a:lstStyle/>
          <a:p>
            <a:r>
              <a:rPr lang="en-IN" b="1" dirty="0">
                <a:latin typeface="Sitka Text" panose="02000505000000020004" pitchFamily="2" charset="0"/>
                <a:cs typeface="Times New Roman" panose="02020603050405020304" pitchFamily="18" charset="0"/>
              </a:rPr>
              <a:t>ATTRIBUTES USED</a:t>
            </a:r>
          </a:p>
        </p:txBody>
      </p:sp>
      <p:sp>
        <p:nvSpPr>
          <p:cNvPr id="3" name="Content Placeholder 2">
            <a:extLst>
              <a:ext uri="{FF2B5EF4-FFF2-40B4-BE49-F238E27FC236}">
                <a16:creationId xmlns:a16="http://schemas.microsoft.com/office/drawing/2014/main" id="{F1DF75D5-F67D-F544-48EA-7F6086F9098A}"/>
              </a:ext>
            </a:extLst>
          </p:cNvPr>
          <p:cNvSpPr>
            <a:spLocks noGrp="1"/>
          </p:cNvSpPr>
          <p:nvPr>
            <p:ph idx="1"/>
          </p:nvPr>
        </p:nvSpPr>
        <p:spPr>
          <a:xfrm>
            <a:off x="6096000" y="1127905"/>
            <a:ext cx="5401574" cy="5377132"/>
          </a:xfrm>
        </p:spPr>
        <p:txBody>
          <a:bodyPr>
            <a:noAutofit/>
          </a:bodyPr>
          <a:lstStyle/>
          <a:p>
            <a:pPr marL="285750" indent="-285750" fontAlgn="base">
              <a:lnSpc>
                <a:spcPct val="150000"/>
              </a:lnSpc>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updatedAt</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Original update date and time.</a:t>
            </a:r>
          </a:p>
          <a:p>
            <a:pPr marL="285750" indent="-285750">
              <a:lnSpc>
                <a:spcPct val="150000"/>
              </a:lnSpc>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__v: </a:t>
            </a:r>
            <a:r>
              <a:rPr lang="en-US" sz="2400" dirty="0">
                <a:solidFill>
                  <a:schemeClr val="tx1"/>
                </a:solidFill>
                <a:latin typeface="Times New Roman" panose="02020603050405020304" pitchFamily="18" charset="0"/>
                <a:cs typeface="Times New Roman" panose="02020603050405020304" pitchFamily="18" charset="0"/>
              </a:rPr>
              <a:t>Version key.</a:t>
            </a:r>
          </a:p>
          <a:p>
            <a:pPr marL="285750" indent="-285750" fontAlgn="base">
              <a:lnSpc>
                <a:spcPct val="150000"/>
              </a:lnSpc>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statementEntryId</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Identifier for the statement entry.</a:t>
            </a:r>
            <a:endParaRPr lang="en-US" sz="2400" b="1" dirty="0">
              <a:solidFill>
                <a:schemeClr val="tx1"/>
              </a:solidFill>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chatStartTime</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Start time of the chat.</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chatEndTime</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End time of the chat.</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timeDuration</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Undefined, some technical data as per app. </a:t>
            </a:r>
          </a:p>
          <a:p>
            <a:pPr marL="285750" indent="-285750" fontAlgn="base">
              <a:buFont typeface="Arial" panose="020B0604020202020204" pitchFamily="34" charset="0"/>
              <a:buChar char="•"/>
            </a:pPr>
            <a:r>
              <a:rPr lang="en-US" sz="2400" b="1" dirty="0" err="1">
                <a:solidFill>
                  <a:schemeClr val="tx1"/>
                </a:solidFill>
                <a:latin typeface="Times New Roman" panose="02020603050405020304" pitchFamily="18" charset="0"/>
                <a:cs typeface="Times New Roman" panose="02020603050405020304" pitchFamily="18" charset="0"/>
              </a:rPr>
              <a:t>callChannel</a:t>
            </a:r>
            <a:r>
              <a:rPr lang="en-US" sz="2400" b="1"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Channel used for the call.</a:t>
            </a:r>
          </a:p>
        </p:txBody>
      </p:sp>
      <p:sp>
        <p:nvSpPr>
          <p:cNvPr id="4" name="TextBox 3">
            <a:extLst>
              <a:ext uri="{FF2B5EF4-FFF2-40B4-BE49-F238E27FC236}">
                <a16:creationId xmlns:a16="http://schemas.microsoft.com/office/drawing/2014/main" id="{1D7C6F34-EF45-D711-8760-ED54266B210A}"/>
              </a:ext>
            </a:extLst>
          </p:cNvPr>
          <p:cNvSpPr txBox="1"/>
          <p:nvPr/>
        </p:nvSpPr>
        <p:spPr>
          <a:xfrm>
            <a:off x="454324" y="1127905"/>
            <a:ext cx="5476338" cy="57300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Free Chat:</a:t>
            </a:r>
            <a:r>
              <a:rPr lang="en-US" sz="2400" dirty="0">
                <a:latin typeface="Times New Roman" panose="02020603050405020304" pitchFamily="18" charset="0"/>
                <a:cs typeface="Times New Roman" panose="02020603050405020304" pitchFamily="18" charset="0"/>
              </a:rPr>
              <a:t> Boolean indicating if the chat was free.</a:t>
            </a:r>
            <a:endParaRPr lang="en-IN" sz="2400" b="1" dirty="0">
              <a:latin typeface="Times New Roman" panose="02020603050405020304" pitchFamily="18" charset="0"/>
              <a:cs typeface="Times New Roman" panose="02020603050405020304" pitchFamily="18" charset="0"/>
            </a:endParaRPr>
          </a:p>
          <a:p>
            <a:pPr marL="285750" indent="-285750">
              <a:lnSpc>
                <a:spcPct val="150000"/>
              </a:lnSpc>
              <a:spcBef>
                <a:spcPts val="1400"/>
              </a:spcBef>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Year: </a:t>
            </a:r>
            <a:r>
              <a:rPr lang="en-IN" sz="2400" dirty="0">
                <a:latin typeface="Times New Roman" panose="02020603050405020304" pitchFamily="18" charset="0"/>
                <a:cs typeface="Times New Roman" panose="02020603050405020304" pitchFamily="18" charset="0"/>
              </a:rPr>
              <a:t>The year the account is created.</a:t>
            </a:r>
          </a:p>
          <a:p>
            <a:pPr marL="285750" indent="-285750">
              <a:lnSpc>
                <a:spcPct val="150000"/>
              </a:lnSpc>
              <a:spcBef>
                <a:spcPts val="1400"/>
              </a:spcBef>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Created_Date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The date when the account is created.</a:t>
            </a:r>
          </a:p>
          <a:p>
            <a:pPr marL="285750" indent="-285750">
              <a:lnSpc>
                <a:spcPct val="150000"/>
              </a:lnSpc>
              <a:spcBef>
                <a:spcPts val="1400"/>
              </a:spcBef>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Created_Time</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The time when the account is created.</a:t>
            </a:r>
          </a:p>
          <a:p>
            <a:pPr marL="285750" indent="-285750" fontAlgn="base">
              <a:lnSpc>
                <a:spcPct val="150000"/>
              </a:lnSpc>
              <a:spcBef>
                <a:spcPts val="1400"/>
              </a:spcBef>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CreatedAT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Original creation date and time.</a:t>
            </a:r>
          </a:p>
        </p:txBody>
      </p:sp>
    </p:spTree>
    <p:extLst>
      <p:ext uri="{BB962C8B-B14F-4D97-AF65-F5344CB8AC3E}">
        <p14:creationId xmlns:p14="http://schemas.microsoft.com/office/powerpoint/2010/main" val="78491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94575-73B5-4757-780F-9E0E94EF5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AECF7-7CA4-47A6-9F61-283A09347C24}"/>
              </a:ext>
            </a:extLst>
          </p:cNvPr>
          <p:cNvSpPr>
            <a:spLocks noGrp="1"/>
          </p:cNvSpPr>
          <p:nvPr>
            <p:ph type="title"/>
          </p:nvPr>
        </p:nvSpPr>
        <p:spPr>
          <a:xfrm>
            <a:off x="3257909" y="457756"/>
            <a:ext cx="5401574" cy="701615"/>
          </a:xfrm>
        </p:spPr>
        <p:txBody>
          <a:bodyPr>
            <a:normAutofit/>
          </a:bodyPr>
          <a:lstStyle/>
          <a:p>
            <a:r>
              <a:rPr lang="en-IN" b="1" dirty="0">
                <a:latin typeface="Sitka Banner" panose="02000505000000020004" pitchFamily="2" charset="0"/>
                <a:cs typeface="Times New Roman" panose="02020603050405020304" pitchFamily="18" charset="0"/>
              </a:rPr>
              <a:t>ATTRIBUTES USED</a:t>
            </a:r>
          </a:p>
        </p:txBody>
      </p:sp>
      <p:sp>
        <p:nvSpPr>
          <p:cNvPr id="4" name="TextBox 3">
            <a:extLst>
              <a:ext uri="{FF2B5EF4-FFF2-40B4-BE49-F238E27FC236}">
                <a16:creationId xmlns:a16="http://schemas.microsoft.com/office/drawing/2014/main" id="{5B64624E-80C5-11A6-7B38-8B107A3B6ACC}"/>
              </a:ext>
            </a:extLst>
          </p:cNvPr>
          <p:cNvSpPr txBox="1"/>
          <p:nvPr/>
        </p:nvSpPr>
        <p:spPr>
          <a:xfrm>
            <a:off x="419818" y="1284871"/>
            <a:ext cx="5676182" cy="5565947"/>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calIvrType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IVR type used during the call.</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callStatus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Status of the call.</a:t>
            </a:r>
          </a:p>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CallSid</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Unique identifier for the call session.</a:t>
            </a:r>
            <a:endParaRPr lang="en-US" sz="2400" b="1"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amount:</a:t>
            </a:r>
            <a:r>
              <a:rPr lang="en-US" sz="2400" dirty="0">
                <a:latin typeface="Times New Roman" panose="02020603050405020304" pitchFamily="18" charset="0"/>
                <a:cs typeface="Times New Roman" panose="02020603050405020304" pitchFamily="18" charset="0"/>
              </a:rPr>
              <a:t> Amount charged for the session.</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astrologerCallStatus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Status of the astrologer during the call.</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astrologerOnCallDuration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Duration of the astrologer's call.</a:t>
            </a:r>
          </a:p>
        </p:txBody>
      </p:sp>
      <p:sp>
        <p:nvSpPr>
          <p:cNvPr id="5" name="TextBox 4">
            <a:extLst>
              <a:ext uri="{FF2B5EF4-FFF2-40B4-BE49-F238E27FC236}">
                <a16:creationId xmlns:a16="http://schemas.microsoft.com/office/drawing/2014/main" id="{922F820F-E8A3-23E9-70BE-A7E777B9DE35}"/>
              </a:ext>
            </a:extLst>
          </p:cNvPr>
          <p:cNvSpPr txBox="1"/>
          <p:nvPr/>
        </p:nvSpPr>
        <p:spPr>
          <a:xfrm>
            <a:off x="6266025" y="1284871"/>
            <a:ext cx="5612920" cy="5573129"/>
          </a:xfrm>
          <a:prstGeom prst="rect">
            <a:avLst/>
          </a:prstGeom>
          <a:noFill/>
        </p:spPr>
        <p:txBody>
          <a:bodyPr wrap="square" rtlCol="0">
            <a:spAutoFit/>
          </a:bodyPr>
          <a:lstStyle/>
          <a:p>
            <a:pPr marL="285750" indent="-28575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astrologersEarnings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Earnings of the astrologer from the session.</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netAmount</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Net amount after deductions.</a:t>
            </a:r>
          </a:p>
          <a:p>
            <a:pPr marL="342900" indent="-34290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region:</a:t>
            </a:r>
            <a:r>
              <a:rPr lang="en-US" sz="2400" dirty="0">
                <a:latin typeface="Times New Roman" panose="02020603050405020304" pitchFamily="18" charset="0"/>
                <a:cs typeface="Times New Roman" panose="02020603050405020304" pitchFamily="18" charset="0"/>
              </a:rPr>
              <a:t> Region of the user.</a:t>
            </a: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userCallStatus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Status of the user's call.</a:t>
            </a:r>
            <a:endParaRPr lang="en-US" sz="2400" b="1" dirty="0">
              <a:latin typeface="Times New Roman" panose="02020603050405020304" pitchFamily="18" charset="0"/>
              <a:cs typeface="Times New Roman" panose="02020603050405020304" pitchFamily="18" charset="0"/>
            </a:endParaRPr>
          </a:p>
          <a:p>
            <a:pPr marL="342900" indent="-342900" fontAlgn="base">
              <a:lnSpc>
                <a:spcPct val="150000"/>
              </a:lnSpc>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userOnCallDuration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Duration of the user's call.</a:t>
            </a:r>
          </a:p>
          <a:p>
            <a:pPr marL="285750" indent="-285750" fontAlgn="base">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rating:</a:t>
            </a:r>
            <a:r>
              <a:rPr lang="en-US" sz="2400" dirty="0">
                <a:latin typeface="Times New Roman" panose="02020603050405020304" pitchFamily="18" charset="0"/>
                <a:cs typeface="Times New Roman" panose="02020603050405020304" pitchFamily="18" charset="0"/>
              </a:rPr>
              <a:t> Rating assigned based on the session's status.</a:t>
            </a:r>
            <a:endParaRPr lang="en-IN" sz="2400" dirty="0"/>
          </a:p>
        </p:txBody>
      </p:sp>
    </p:spTree>
    <p:extLst>
      <p:ext uri="{BB962C8B-B14F-4D97-AF65-F5344CB8AC3E}">
        <p14:creationId xmlns:p14="http://schemas.microsoft.com/office/powerpoint/2010/main" val="2041298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B093-E7E8-85C4-CFA5-95CA896BD1CA}"/>
              </a:ext>
            </a:extLst>
          </p:cNvPr>
          <p:cNvSpPr>
            <a:spLocks noGrp="1"/>
          </p:cNvSpPr>
          <p:nvPr>
            <p:ph type="title"/>
          </p:nvPr>
        </p:nvSpPr>
        <p:spPr>
          <a:xfrm>
            <a:off x="3623095" y="462951"/>
            <a:ext cx="3866072" cy="621102"/>
          </a:xfrm>
        </p:spPr>
        <p:txBody>
          <a:bodyPr>
            <a:noAutofit/>
          </a:bodyPr>
          <a:lstStyle/>
          <a:p>
            <a:r>
              <a:rPr lang="en-US" b="1" dirty="0">
                <a:latin typeface="Times New Roman" panose="02020603050405020304" pitchFamily="18" charset="0"/>
                <a:ea typeface="Telegraf Bold"/>
                <a:cs typeface="Times New Roman" panose="02020603050405020304" pitchFamily="18" charset="0"/>
                <a:sym typeface="Telegraf Bold"/>
              </a:rPr>
              <a:t>Data Overview</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995FCC-F9EA-9349-C346-23270229310B}"/>
              </a:ext>
            </a:extLst>
          </p:cNvPr>
          <p:cNvSpPr>
            <a:spLocks noGrp="1"/>
          </p:cNvSpPr>
          <p:nvPr>
            <p:ph idx="1"/>
          </p:nvPr>
        </p:nvSpPr>
        <p:spPr>
          <a:xfrm>
            <a:off x="609600" y="2515017"/>
            <a:ext cx="5486400" cy="3669102"/>
          </a:xfrm>
        </p:spPr>
        <p:txBody>
          <a:bodyPr>
            <a:noAutofit/>
          </a:bodyPr>
          <a:lstStyle/>
          <a:p>
            <a:pPr algn="just"/>
            <a:r>
              <a:rPr lang="en-US" sz="2400" dirty="0">
                <a:latin typeface="Times New Roman" panose="02020603050405020304" pitchFamily="18" charset="0"/>
                <a:ea typeface="Canva Sans"/>
                <a:cs typeface="Times New Roman" panose="02020603050405020304" pitchFamily="18" charset="0"/>
                <a:sym typeface="Canva Sans"/>
              </a:rPr>
              <a:t>There are 4 different consultation service that </a:t>
            </a:r>
            <a:r>
              <a:rPr lang="en-US" sz="2400" dirty="0" err="1">
                <a:latin typeface="Times New Roman" panose="02020603050405020304" pitchFamily="18" charset="0"/>
                <a:ea typeface="Canva Sans"/>
                <a:cs typeface="Times New Roman" panose="02020603050405020304" pitchFamily="18" charset="0"/>
                <a:sym typeface="Canva Sans"/>
              </a:rPr>
              <a:t>AstroSage</a:t>
            </a:r>
            <a:r>
              <a:rPr lang="en-US" sz="2400" dirty="0">
                <a:latin typeface="Times New Roman" panose="02020603050405020304" pitchFamily="18" charset="0"/>
                <a:ea typeface="Canva Sans"/>
                <a:cs typeface="Times New Roman" panose="02020603050405020304" pitchFamily="18" charset="0"/>
                <a:sym typeface="Canva Sans"/>
              </a:rPr>
              <a:t> offers.</a:t>
            </a:r>
          </a:p>
          <a:p>
            <a:pPr algn="just"/>
            <a:r>
              <a:rPr lang="en-US" sz="2400" dirty="0">
                <a:latin typeface="Times New Roman" panose="02020603050405020304" pitchFamily="18" charset="0"/>
                <a:ea typeface="Canva Sans"/>
                <a:cs typeface="Times New Roman" panose="02020603050405020304" pitchFamily="18" charset="0"/>
                <a:sym typeface="Canva Sans"/>
              </a:rPr>
              <a:t>In total 149 Gurus are available.</a:t>
            </a:r>
          </a:p>
          <a:p>
            <a:pPr algn="just"/>
            <a:r>
              <a:rPr lang="en-US" sz="2400" dirty="0">
                <a:latin typeface="Times New Roman" panose="02020603050405020304" pitchFamily="18" charset="0"/>
                <a:ea typeface="Canva Sans"/>
                <a:cs typeface="Times New Roman" panose="02020603050405020304" pitchFamily="18" charset="0"/>
                <a:sym typeface="Canva Sans"/>
              </a:rPr>
              <a:t>This dataset enable us to predict and suggest future investments to grow the revenue and increase the customer satisfaction.</a:t>
            </a:r>
          </a:p>
          <a:p>
            <a:pPr algn="just"/>
            <a:r>
              <a:rPr lang="en-US" sz="2400" dirty="0">
                <a:latin typeface="Times New Roman" panose="02020603050405020304" pitchFamily="18" charset="0"/>
                <a:ea typeface="Canva Sans"/>
                <a:cs typeface="Times New Roman" panose="02020603050405020304" pitchFamily="18" charset="0"/>
                <a:sym typeface="Canva Sans"/>
              </a:rPr>
              <a:t>There 28027 consultations in which most of them are Chats and then it’s Calls.</a:t>
            </a:r>
          </a:p>
        </p:txBody>
      </p:sp>
      <p:pic>
        <p:nvPicPr>
          <p:cNvPr id="7" name="Picture 6">
            <a:extLst>
              <a:ext uri="{FF2B5EF4-FFF2-40B4-BE49-F238E27FC236}">
                <a16:creationId xmlns:a16="http://schemas.microsoft.com/office/drawing/2014/main" id="{9016340E-444F-5110-B0B4-3514118471F2}"/>
              </a:ext>
            </a:extLst>
          </p:cNvPr>
          <p:cNvPicPr>
            <a:picLocks noChangeAspect="1"/>
          </p:cNvPicPr>
          <p:nvPr/>
        </p:nvPicPr>
        <p:blipFill>
          <a:blip r:embed="rId2"/>
          <a:stretch>
            <a:fillRect/>
          </a:stretch>
        </p:blipFill>
        <p:spPr>
          <a:xfrm>
            <a:off x="6556818" y="2356402"/>
            <a:ext cx="5313871" cy="4272951"/>
          </a:xfrm>
          <a:prstGeom prst="rect">
            <a:avLst/>
          </a:prstGeom>
        </p:spPr>
      </p:pic>
    </p:spTree>
    <p:extLst>
      <p:ext uri="{BB962C8B-B14F-4D97-AF65-F5344CB8AC3E}">
        <p14:creationId xmlns:p14="http://schemas.microsoft.com/office/powerpoint/2010/main" val="254375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028A-388D-9C1B-698C-C763B26A20C2}"/>
              </a:ext>
            </a:extLst>
          </p:cNvPr>
          <p:cNvSpPr>
            <a:spLocks noGrp="1"/>
          </p:cNvSpPr>
          <p:nvPr>
            <p:ph type="title"/>
          </p:nvPr>
        </p:nvSpPr>
        <p:spPr>
          <a:xfrm>
            <a:off x="2463560" y="189780"/>
            <a:ext cx="7264879" cy="736121"/>
          </a:xfrm>
        </p:spPr>
        <p:txBody>
          <a:bodyPr/>
          <a:lstStyle/>
          <a:p>
            <a:pPr algn="just"/>
            <a:r>
              <a:rPr lang="en-IN" altLang="en-US" b="1" dirty="0">
                <a:latin typeface="Times New Roman" panose="02020603050405020304" pitchFamily="18" charset="0"/>
                <a:cs typeface="Times New Roman" panose="02020603050405020304" pitchFamily="18" charset="0"/>
              </a:rPr>
              <a:t>Analytical approach and Tool</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ADB571-18C1-9D21-9291-568B75B28273}"/>
              </a:ext>
            </a:extLst>
          </p:cNvPr>
          <p:cNvSpPr>
            <a:spLocks noGrp="1"/>
          </p:cNvSpPr>
          <p:nvPr>
            <p:ph idx="1"/>
          </p:nvPr>
        </p:nvSpPr>
        <p:spPr>
          <a:xfrm>
            <a:off x="437073" y="1276708"/>
            <a:ext cx="6699848" cy="5262115"/>
          </a:xfrm>
        </p:spPr>
        <p:txBody>
          <a:bodyPr>
            <a:normAutofit lnSpcReduction="10000"/>
          </a:bodyPr>
          <a:lstStyle/>
          <a:p>
            <a:r>
              <a:rPr lang="en-US" sz="2400" dirty="0">
                <a:highlight>
                  <a:srgbClr val="C0C0C0"/>
                </a:highlight>
                <a:latin typeface="Times New Roman" panose="02020603050405020304" pitchFamily="18" charset="0"/>
                <a:cs typeface="Times New Roman" panose="02020603050405020304" pitchFamily="18" charset="0"/>
                <a:sym typeface="Canva Sans"/>
              </a:rPr>
              <a:t>Data Cleaning: Used spreadsheets functions like trim and Removing duplicates for data cleaning.</a:t>
            </a:r>
          </a:p>
          <a:p>
            <a:r>
              <a:rPr lang="en-US" sz="2400" dirty="0">
                <a:highlight>
                  <a:srgbClr val="C0C0C0"/>
                </a:highlight>
                <a:latin typeface="Times New Roman" panose="02020603050405020304" pitchFamily="18" charset="0"/>
                <a:cs typeface="Times New Roman" panose="02020603050405020304" pitchFamily="18" charset="0"/>
                <a:sym typeface="Canva Sans"/>
              </a:rPr>
              <a:t>Data Enrichment: Added new variables using Date functions for better analysis.</a:t>
            </a:r>
          </a:p>
          <a:p>
            <a:r>
              <a:rPr lang="en-US" sz="2400" dirty="0">
                <a:highlight>
                  <a:srgbClr val="C0C0C0"/>
                </a:highlight>
                <a:latin typeface="Times New Roman" panose="02020603050405020304" pitchFamily="18" charset="0"/>
                <a:cs typeface="Times New Roman" panose="02020603050405020304" pitchFamily="18" charset="0"/>
              </a:rPr>
              <a:t>Customer Segmentation: Applied SORT and FILTER functions to classify customers based on consultant type and time duration.</a:t>
            </a:r>
          </a:p>
          <a:p>
            <a:r>
              <a:rPr lang="en-US" sz="2400" dirty="0">
                <a:highlight>
                  <a:srgbClr val="C0C0C0"/>
                </a:highlight>
                <a:latin typeface="Times New Roman" panose="02020603050405020304" pitchFamily="18" charset="0"/>
                <a:cs typeface="Times New Roman" panose="02020603050405020304" pitchFamily="18" charset="0"/>
                <a:sym typeface="Canva Sans"/>
              </a:rPr>
              <a:t>Used Pivot tables to analyze the performance of consultants over different category type and ratings </a:t>
            </a:r>
            <a:r>
              <a:rPr lang="en-US" sz="2400" dirty="0" err="1">
                <a:highlight>
                  <a:srgbClr val="C0C0C0"/>
                </a:highlight>
                <a:latin typeface="Times New Roman" panose="02020603050405020304" pitchFamily="18" charset="0"/>
                <a:cs typeface="Times New Roman" panose="02020603050405020304" pitchFamily="18" charset="0"/>
                <a:sym typeface="Canva Sans"/>
              </a:rPr>
              <a:t>recieved</a:t>
            </a:r>
            <a:r>
              <a:rPr lang="en-US" sz="2400" dirty="0">
                <a:highlight>
                  <a:srgbClr val="C0C0C0"/>
                </a:highlight>
                <a:latin typeface="Times New Roman" panose="02020603050405020304" pitchFamily="18" charset="0"/>
                <a:cs typeface="Times New Roman" panose="02020603050405020304" pitchFamily="18" charset="0"/>
                <a:sym typeface="Canva Sans"/>
              </a:rPr>
              <a:t> on basis of consultations from users.</a:t>
            </a:r>
          </a:p>
          <a:p>
            <a:r>
              <a:rPr lang="en-US" sz="2400" dirty="0">
                <a:highlight>
                  <a:srgbClr val="C0C0C0"/>
                </a:highlight>
                <a:latin typeface="Times New Roman" panose="02020603050405020304" pitchFamily="18" charset="0"/>
                <a:cs typeface="Times New Roman" panose="02020603050405020304" pitchFamily="18" charset="0"/>
              </a:rPr>
              <a:t>Visualization: Created dynamic charts and dashboards for data representation, enabling interactive data exploration.</a:t>
            </a:r>
          </a:p>
        </p:txBody>
      </p:sp>
      <p:pic>
        <p:nvPicPr>
          <p:cNvPr id="5" name="Picture 4">
            <a:extLst>
              <a:ext uri="{FF2B5EF4-FFF2-40B4-BE49-F238E27FC236}">
                <a16:creationId xmlns:a16="http://schemas.microsoft.com/office/drawing/2014/main" id="{940A6A2B-B93A-B490-2A69-576F7C20EFBD}"/>
              </a:ext>
            </a:extLst>
          </p:cNvPr>
          <p:cNvPicPr>
            <a:picLocks noChangeAspect="1"/>
          </p:cNvPicPr>
          <p:nvPr/>
        </p:nvPicPr>
        <p:blipFill>
          <a:blip r:embed="rId2"/>
          <a:stretch>
            <a:fillRect/>
          </a:stretch>
        </p:blipFill>
        <p:spPr>
          <a:xfrm>
            <a:off x="7447472" y="2482182"/>
            <a:ext cx="4307455" cy="3784120"/>
          </a:xfrm>
          <a:prstGeom prst="rect">
            <a:avLst/>
          </a:prstGeom>
        </p:spPr>
      </p:pic>
    </p:spTree>
    <p:extLst>
      <p:ext uri="{BB962C8B-B14F-4D97-AF65-F5344CB8AC3E}">
        <p14:creationId xmlns:p14="http://schemas.microsoft.com/office/powerpoint/2010/main" val="328446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E253C-45A3-BB60-DAD3-0FF2A456C536}"/>
              </a:ext>
            </a:extLst>
          </p:cNvPr>
          <p:cNvSpPr>
            <a:spLocks noGrp="1"/>
          </p:cNvSpPr>
          <p:nvPr>
            <p:ph type="title"/>
          </p:nvPr>
        </p:nvSpPr>
        <p:spPr>
          <a:xfrm>
            <a:off x="3418936" y="697719"/>
            <a:ext cx="5354128" cy="839638"/>
          </a:xfrm>
        </p:spPr>
        <p:txBody>
          <a:bodyPr>
            <a:normAutofit/>
          </a:bodyPr>
          <a:lstStyle/>
          <a:p>
            <a:r>
              <a:rPr lang="en-IN" b="1" dirty="0">
                <a:latin typeface="Times New Roman" panose="02020603050405020304" pitchFamily="18" charset="0"/>
                <a:cs typeface="Times New Roman" panose="02020603050405020304" pitchFamily="18" charset="0"/>
              </a:rPr>
              <a:t>Category wise revenue</a:t>
            </a:r>
          </a:p>
        </p:txBody>
      </p:sp>
      <p:sp>
        <p:nvSpPr>
          <p:cNvPr id="3" name="Content Placeholder 2">
            <a:extLst>
              <a:ext uri="{FF2B5EF4-FFF2-40B4-BE49-F238E27FC236}">
                <a16:creationId xmlns:a16="http://schemas.microsoft.com/office/drawing/2014/main" id="{5690A24E-3BC8-CC39-BA71-E1260692F077}"/>
              </a:ext>
            </a:extLst>
          </p:cNvPr>
          <p:cNvSpPr>
            <a:spLocks noGrp="1"/>
          </p:cNvSpPr>
          <p:nvPr>
            <p:ph idx="1"/>
          </p:nvPr>
        </p:nvSpPr>
        <p:spPr>
          <a:xfrm>
            <a:off x="6439294" y="2328761"/>
            <a:ext cx="5200684" cy="3571337"/>
          </a:xfrm>
        </p:spPr>
        <p:txBody>
          <a:bodyPr>
            <a:noAutofit/>
          </a:bodyPr>
          <a:lstStyle/>
          <a:p>
            <a:pPr algn="just"/>
            <a:r>
              <a:rPr lang="en-IN" sz="2400" dirty="0">
                <a:highlight>
                  <a:srgbClr val="C0C0C0"/>
                </a:highlight>
                <a:latin typeface="Times New Roman" panose="02020603050405020304" pitchFamily="18" charset="0"/>
                <a:cs typeface="Times New Roman" panose="02020603050405020304" pitchFamily="18" charset="0"/>
              </a:rPr>
              <a:t>The Pie chart represents category wise revenue, which gives insights like how much each category is adding the value to the total revenue.</a:t>
            </a:r>
          </a:p>
          <a:p>
            <a:pPr algn="just"/>
            <a:r>
              <a:rPr lang="en-IN" sz="2400" dirty="0">
                <a:highlight>
                  <a:srgbClr val="C0C0C0"/>
                </a:highlight>
                <a:latin typeface="Times New Roman" panose="02020603050405020304" pitchFamily="18" charset="0"/>
                <a:cs typeface="Times New Roman" panose="02020603050405020304" pitchFamily="18" charset="0"/>
              </a:rPr>
              <a:t>As we can see Call is generating more revenue then other, this also helps us to find that chat is no performing </a:t>
            </a:r>
            <a:r>
              <a:rPr lang="en-IN" sz="2400" dirty="0" err="1">
                <a:highlight>
                  <a:srgbClr val="C0C0C0"/>
                </a:highlight>
                <a:latin typeface="Times New Roman" panose="02020603050405020304" pitchFamily="18" charset="0"/>
                <a:cs typeface="Times New Roman" panose="02020603050405020304" pitchFamily="18" charset="0"/>
              </a:rPr>
              <a:t>upto</a:t>
            </a:r>
            <a:r>
              <a:rPr lang="en-IN" sz="2400" dirty="0">
                <a:highlight>
                  <a:srgbClr val="C0C0C0"/>
                </a:highlight>
                <a:latin typeface="Times New Roman" panose="02020603050405020304" pitchFamily="18" charset="0"/>
                <a:cs typeface="Times New Roman" panose="02020603050405020304" pitchFamily="18" charset="0"/>
              </a:rPr>
              <a:t> the required level so should focus more on it in order to increase the total revenue</a:t>
            </a:r>
          </a:p>
        </p:txBody>
      </p:sp>
      <p:pic>
        <p:nvPicPr>
          <p:cNvPr id="5" name="Picture 4">
            <a:extLst>
              <a:ext uri="{FF2B5EF4-FFF2-40B4-BE49-F238E27FC236}">
                <a16:creationId xmlns:a16="http://schemas.microsoft.com/office/drawing/2014/main" id="{99655423-BC3A-CF19-802A-BAA60D0A6159}"/>
              </a:ext>
            </a:extLst>
          </p:cNvPr>
          <p:cNvPicPr>
            <a:picLocks noChangeAspect="1"/>
          </p:cNvPicPr>
          <p:nvPr/>
        </p:nvPicPr>
        <p:blipFill>
          <a:blip r:embed="rId2"/>
          <a:srcRect t="3347"/>
          <a:stretch>
            <a:fillRect/>
          </a:stretch>
        </p:blipFill>
        <p:spPr>
          <a:xfrm>
            <a:off x="666193" y="2547297"/>
            <a:ext cx="5200685" cy="3352801"/>
          </a:xfrm>
          <a:prstGeom prst="rect">
            <a:avLst/>
          </a:prstGeom>
        </p:spPr>
      </p:pic>
    </p:spTree>
    <p:extLst>
      <p:ext uri="{BB962C8B-B14F-4D97-AF65-F5344CB8AC3E}">
        <p14:creationId xmlns:p14="http://schemas.microsoft.com/office/powerpoint/2010/main" val="169691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0349-B6A0-1D88-1B41-B8E0D13C1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A391A-1EDD-A1B3-E86D-153ABCA07613}"/>
              </a:ext>
            </a:extLst>
          </p:cNvPr>
          <p:cNvSpPr>
            <a:spLocks noGrp="1"/>
          </p:cNvSpPr>
          <p:nvPr>
            <p:ph type="title"/>
          </p:nvPr>
        </p:nvSpPr>
        <p:spPr>
          <a:xfrm>
            <a:off x="2967023" y="432248"/>
            <a:ext cx="5653178" cy="839638"/>
          </a:xfrm>
        </p:spPr>
        <p:txBody>
          <a:bodyPr>
            <a:normAutofit/>
          </a:bodyPr>
          <a:lstStyle/>
          <a:p>
            <a:r>
              <a:rPr lang="en-IN" b="1" dirty="0">
                <a:latin typeface="Times New Roman" panose="02020603050405020304" pitchFamily="18" charset="0"/>
                <a:cs typeface="Times New Roman" panose="02020603050405020304" pitchFamily="18" charset="0"/>
              </a:rPr>
              <a:t>Chat Status Distribution</a:t>
            </a:r>
          </a:p>
        </p:txBody>
      </p:sp>
      <p:sp>
        <p:nvSpPr>
          <p:cNvPr id="3" name="Content Placeholder 2">
            <a:extLst>
              <a:ext uri="{FF2B5EF4-FFF2-40B4-BE49-F238E27FC236}">
                <a16:creationId xmlns:a16="http://schemas.microsoft.com/office/drawing/2014/main" id="{F7A02939-355A-F350-D01C-39F5312740DA}"/>
              </a:ext>
            </a:extLst>
          </p:cNvPr>
          <p:cNvSpPr>
            <a:spLocks noGrp="1"/>
          </p:cNvSpPr>
          <p:nvPr>
            <p:ph idx="1"/>
          </p:nvPr>
        </p:nvSpPr>
        <p:spPr>
          <a:xfrm>
            <a:off x="6395049" y="2021085"/>
            <a:ext cx="5200684" cy="4313208"/>
          </a:xfrm>
        </p:spPr>
        <p:txBody>
          <a:bodyPr>
            <a:noAutofit/>
          </a:bodyPr>
          <a:lstStyle/>
          <a:p>
            <a:pPr algn="just"/>
            <a:r>
              <a:rPr lang="en-IN" sz="2400" dirty="0">
                <a:highlight>
                  <a:srgbClr val="C0C0C0"/>
                </a:highlight>
                <a:latin typeface="Times New Roman" panose="02020603050405020304" pitchFamily="18" charset="0"/>
                <a:cs typeface="Times New Roman" panose="02020603050405020304" pitchFamily="18" charset="0"/>
              </a:rPr>
              <a:t>The Pie chart shown gives us insights about the Chat status distribution, this insight will help us to understand what is the percentage of chats are complete or not.</a:t>
            </a:r>
          </a:p>
          <a:p>
            <a:pPr algn="just"/>
            <a:r>
              <a:rPr lang="en-IN" sz="2400" dirty="0">
                <a:highlight>
                  <a:srgbClr val="C0C0C0"/>
                </a:highlight>
                <a:latin typeface="Times New Roman" panose="02020603050405020304" pitchFamily="18" charset="0"/>
                <a:cs typeface="Times New Roman" panose="02020603050405020304" pitchFamily="18" charset="0"/>
              </a:rPr>
              <a:t>As we can see that only 19.81% of the chats are completed, which means around 50% are incomplete so the </a:t>
            </a:r>
            <a:r>
              <a:rPr lang="en-IN" sz="2400" dirty="0" err="1">
                <a:highlight>
                  <a:srgbClr val="C0C0C0"/>
                </a:highlight>
                <a:latin typeface="Times New Roman" panose="02020603050405020304" pitchFamily="18" charset="0"/>
                <a:cs typeface="Times New Roman" panose="02020603050405020304" pitchFamily="18" charset="0"/>
              </a:rPr>
              <a:t>Astrosage</a:t>
            </a:r>
            <a:r>
              <a:rPr lang="en-IN" sz="2400" dirty="0">
                <a:highlight>
                  <a:srgbClr val="C0C0C0"/>
                </a:highlight>
                <a:latin typeface="Times New Roman" panose="02020603050405020304" pitchFamily="18" charset="0"/>
                <a:cs typeface="Times New Roman" panose="02020603050405020304" pitchFamily="18" charset="0"/>
              </a:rPr>
              <a:t> must focus more on the incomplete and failed chats to increase both revenue and customer satisfaction and 30% is on the Call.</a:t>
            </a:r>
          </a:p>
          <a:p>
            <a:pPr marL="45720" indent="0" algn="just">
              <a:buNone/>
            </a:pPr>
            <a:endParaRPr lang="en-IN" sz="2400" dirty="0">
              <a:highlight>
                <a:srgbClr val="C0C0C0"/>
              </a:highlight>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31E180B-01F5-1D70-B420-8CA40F5C726B}"/>
              </a:ext>
            </a:extLst>
          </p:cNvPr>
          <p:cNvPicPr>
            <a:picLocks noChangeAspect="1"/>
          </p:cNvPicPr>
          <p:nvPr/>
        </p:nvPicPr>
        <p:blipFill>
          <a:blip r:embed="rId2"/>
          <a:srcRect t="3475"/>
          <a:stretch>
            <a:fillRect/>
          </a:stretch>
        </p:blipFill>
        <p:spPr>
          <a:xfrm>
            <a:off x="489411" y="2548502"/>
            <a:ext cx="5304201" cy="3513827"/>
          </a:xfrm>
          <a:prstGeom prst="rect">
            <a:avLst/>
          </a:prstGeom>
        </p:spPr>
      </p:pic>
    </p:spTree>
    <p:extLst>
      <p:ext uri="{BB962C8B-B14F-4D97-AF65-F5344CB8AC3E}">
        <p14:creationId xmlns:p14="http://schemas.microsoft.com/office/powerpoint/2010/main" val="90552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EB37F-652C-F733-4E40-D94248DEA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19041-C128-E142-EEE9-D6EC814D3592}"/>
              </a:ext>
            </a:extLst>
          </p:cNvPr>
          <p:cNvSpPr>
            <a:spLocks noGrp="1"/>
          </p:cNvSpPr>
          <p:nvPr>
            <p:ph type="title"/>
          </p:nvPr>
        </p:nvSpPr>
        <p:spPr>
          <a:xfrm>
            <a:off x="3146508" y="610065"/>
            <a:ext cx="5400136" cy="839638"/>
          </a:xfrm>
        </p:spPr>
        <p:txBody>
          <a:bodyPr>
            <a:normAutofit/>
          </a:bodyPr>
          <a:lstStyle/>
          <a:p>
            <a:r>
              <a:rPr lang="en-IN" b="1" dirty="0">
                <a:latin typeface="Times New Roman" panose="02020603050405020304" pitchFamily="18" charset="0"/>
                <a:cs typeface="Times New Roman" panose="02020603050405020304" pitchFamily="18" charset="0"/>
              </a:rPr>
              <a:t>Call Status Distribution</a:t>
            </a:r>
          </a:p>
        </p:txBody>
      </p:sp>
      <p:sp>
        <p:nvSpPr>
          <p:cNvPr id="3" name="Content Placeholder 2">
            <a:extLst>
              <a:ext uri="{FF2B5EF4-FFF2-40B4-BE49-F238E27FC236}">
                <a16:creationId xmlns:a16="http://schemas.microsoft.com/office/drawing/2014/main" id="{2996C454-1DBB-491C-5353-06E68753717C}"/>
              </a:ext>
            </a:extLst>
          </p:cNvPr>
          <p:cNvSpPr>
            <a:spLocks noGrp="1"/>
          </p:cNvSpPr>
          <p:nvPr>
            <p:ph idx="1"/>
          </p:nvPr>
        </p:nvSpPr>
        <p:spPr>
          <a:xfrm>
            <a:off x="546166" y="2582157"/>
            <a:ext cx="5200684" cy="3421811"/>
          </a:xfrm>
        </p:spPr>
        <p:txBody>
          <a:bodyPr>
            <a:noAutofit/>
          </a:bodyPr>
          <a:lstStyle/>
          <a:p>
            <a:pPr algn="just"/>
            <a:r>
              <a:rPr lang="en-US" sz="2400" dirty="0">
                <a:highlight>
                  <a:srgbClr val="C0C0C0"/>
                </a:highlight>
                <a:latin typeface="Times New Roman" panose="02020603050405020304" pitchFamily="18" charset="0"/>
                <a:cs typeface="Times New Roman" panose="02020603050405020304" pitchFamily="18" charset="0"/>
              </a:rPr>
              <a:t>The pie chart shows that only 40.43% of calls are completed, while nearly 60% remain incomplete.</a:t>
            </a:r>
          </a:p>
          <a:p>
            <a:pPr algn="just"/>
            <a:r>
              <a:rPr lang="en-US" sz="2400" dirty="0" err="1">
                <a:highlight>
                  <a:srgbClr val="C0C0C0"/>
                </a:highlight>
                <a:latin typeface="Times New Roman" panose="02020603050405020304" pitchFamily="18" charset="0"/>
                <a:cs typeface="Times New Roman" panose="02020603050405020304" pitchFamily="18" charset="0"/>
              </a:rPr>
              <a:t>AstroSage</a:t>
            </a:r>
            <a:r>
              <a:rPr lang="en-US" sz="2400" dirty="0">
                <a:highlight>
                  <a:srgbClr val="C0C0C0"/>
                </a:highlight>
                <a:latin typeface="Times New Roman" panose="02020603050405020304" pitchFamily="18" charset="0"/>
                <a:cs typeface="Times New Roman" panose="02020603050405020304" pitchFamily="18" charset="0"/>
              </a:rPr>
              <a:t> should focus on reducing failed and incomplete calls by improving customer handling and minimizing waiting time to boost satisfaction and revenue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382B7FA-2E81-98F6-CC68-F8D971DA4F77}"/>
              </a:ext>
            </a:extLst>
          </p:cNvPr>
          <p:cNvPicPr>
            <a:picLocks noChangeAspect="1"/>
          </p:cNvPicPr>
          <p:nvPr/>
        </p:nvPicPr>
        <p:blipFill>
          <a:blip r:embed="rId2"/>
          <a:stretch>
            <a:fillRect/>
          </a:stretch>
        </p:blipFill>
        <p:spPr>
          <a:xfrm>
            <a:off x="6445152" y="2532350"/>
            <a:ext cx="5454538" cy="3781953"/>
          </a:xfrm>
          <a:prstGeom prst="rect">
            <a:avLst/>
          </a:prstGeom>
        </p:spPr>
      </p:pic>
    </p:spTree>
    <p:extLst>
      <p:ext uri="{BB962C8B-B14F-4D97-AF65-F5344CB8AC3E}">
        <p14:creationId xmlns:p14="http://schemas.microsoft.com/office/powerpoint/2010/main" val="225394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3722B-F15A-B982-2C5E-0035B7410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0830B6-B17D-F576-F2EE-76D79352F1B8}"/>
              </a:ext>
            </a:extLst>
          </p:cNvPr>
          <p:cNvSpPr>
            <a:spLocks noGrp="1"/>
          </p:cNvSpPr>
          <p:nvPr>
            <p:ph type="title"/>
          </p:nvPr>
        </p:nvSpPr>
        <p:spPr>
          <a:xfrm>
            <a:off x="3203276" y="224287"/>
            <a:ext cx="6257026" cy="839638"/>
          </a:xfrm>
        </p:spPr>
        <p:txBody>
          <a:bodyPr>
            <a:normAutofit/>
          </a:bodyPr>
          <a:lstStyle/>
          <a:p>
            <a:r>
              <a:rPr lang="en-IN" b="1" dirty="0">
                <a:latin typeface="Times New Roman" panose="02020603050405020304" pitchFamily="18" charset="0"/>
                <a:cs typeface="Times New Roman" panose="02020603050405020304" pitchFamily="18" charset="0"/>
              </a:rPr>
              <a:t>Website wise Distribution</a:t>
            </a:r>
          </a:p>
        </p:txBody>
      </p:sp>
      <p:sp>
        <p:nvSpPr>
          <p:cNvPr id="3" name="Content Placeholder 2">
            <a:extLst>
              <a:ext uri="{FF2B5EF4-FFF2-40B4-BE49-F238E27FC236}">
                <a16:creationId xmlns:a16="http://schemas.microsoft.com/office/drawing/2014/main" id="{A3C3E1B2-E538-3687-855F-109F1B654B37}"/>
              </a:ext>
            </a:extLst>
          </p:cNvPr>
          <p:cNvSpPr>
            <a:spLocks noGrp="1"/>
          </p:cNvSpPr>
          <p:nvPr>
            <p:ph idx="1"/>
          </p:nvPr>
        </p:nvSpPr>
        <p:spPr>
          <a:xfrm>
            <a:off x="6631023" y="2668837"/>
            <a:ext cx="5200684" cy="3370053"/>
          </a:xfrm>
        </p:spPr>
        <p:txBody>
          <a:bodyPr>
            <a:noAutofit/>
          </a:bodyPr>
          <a:lstStyle/>
          <a:p>
            <a:pPr algn="just"/>
            <a:r>
              <a:rPr lang="en-IN" sz="2400" dirty="0">
                <a:latin typeface="Times New Roman" panose="02020603050405020304" pitchFamily="18" charset="0"/>
                <a:cs typeface="Times New Roman" panose="02020603050405020304" pitchFamily="18" charset="0"/>
              </a:rPr>
              <a:t>The Website wise distribution chart shows the count of consultations through different website channels.</a:t>
            </a:r>
          </a:p>
          <a:p>
            <a:pPr algn="just"/>
            <a:r>
              <a:rPr lang="en-IN" sz="2400" dirty="0">
                <a:latin typeface="Times New Roman" panose="02020603050405020304" pitchFamily="18" charset="0"/>
                <a:cs typeface="Times New Roman" panose="02020603050405020304" pitchFamily="18" charset="0"/>
              </a:rPr>
              <a:t>Most of the consultations are from the </a:t>
            </a:r>
            <a:r>
              <a:rPr lang="en-IN" sz="2400" dirty="0" err="1">
                <a:latin typeface="Times New Roman" panose="02020603050405020304" pitchFamily="18" charset="0"/>
                <a:cs typeface="Times New Roman" panose="02020603050405020304" pitchFamily="18" charset="0"/>
              </a:rPr>
              <a:t>gurucool</a:t>
            </a:r>
            <a:r>
              <a:rPr lang="en-IN" sz="2400" dirty="0">
                <a:latin typeface="Times New Roman" panose="02020603050405020304" pitchFamily="18" charset="0"/>
                <a:cs typeface="Times New Roman" panose="02020603050405020304" pitchFamily="18" charset="0"/>
              </a:rPr>
              <a:t> website with 20225 where as dashboard is only with 2, but we can see that app has count of 7800 so the call </a:t>
            </a:r>
            <a:r>
              <a:rPr lang="en-IN" sz="2400" dirty="0" err="1">
                <a:latin typeface="Times New Roman" panose="02020603050405020304" pitchFamily="18" charset="0"/>
                <a:cs typeface="Times New Roman" panose="02020603050405020304" pitchFamily="18" charset="0"/>
              </a:rPr>
              <a:t>center</a:t>
            </a:r>
            <a:r>
              <a:rPr lang="en-IN" sz="2400" dirty="0">
                <a:latin typeface="Times New Roman" panose="02020603050405020304" pitchFamily="18" charset="0"/>
                <a:cs typeface="Times New Roman" panose="02020603050405020304" pitchFamily="18" charset="0"/>
              </a:rPr>
              <a:t> can invest more on app to attract more consultations.</a:t>
            </a:r>
          </a:p>
        </p:txBody>
      </p:sp>
      <p:pic>
        <p:nvPicPr>
          <p:cNvPr id="6" name="Picture 5">
            <a:extLst>
              <a:ext uri="{FF2B5EF4-FFF2-40B4-BE49-F238E27FC236}">
                <a16:creationId xmlns:a16="http://schemas.microsoft.com/office/drawing/2014/main" id="{5DD80B52-7BDF-943F-249F-E53CAF0F2D72}"/>
              </a:ext>
            </a:extLst>
          </p:cNvPr>
          <p:cNvPicPr>
            <a:picLocks noChangeAspect="1"/>
          </p:cNvPicPr>
          <p:nvPr/>
        </p:nvPicPr>
        <p:blipFill>
          <a:blip r:embed="rId2"/>
          <a:srcRect t="2860"/>
          <a:stretch>
            <a:fillRect/>
          </a:stretch>
        </p:blipFill>
        <p:spPr>
          <a:xfrm>
            <a:off x="596267" y="2479956"/>
            <a:ext cx="5668166" cy="3747816"/>
          </a:xfrm>
          <a:prstGeom prst="rect">
            <a:avLst/>
          </a:prstGeom>
        </p:spPr>
      </p:pic>
    </p:spTree>
    <p:extLst>
      <p:ext uri="{BB962C8B-B14F-4D97-AF65-F5344CB8AC3E}">
        <p14:creationId xmlns:p14="http://schemas.microsoft.com/office/powerpoint/2010/main" val="1547816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BD1C-E09F-F973-A0D9-6C6597263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8844C-3D49-7C8D-1BA7-BC6F125E063E}"/>
              </a:ext>
            </a:extLst>
          </p:cNvPr>
          <p:cNvSpPr>
            <a:spLocks noGrp="1"/>
          </p:cNvSpPr>
          <p:nvPr>
            <p:ph type="title"/>
          </p:nvPr>
        </p:nvSpPr>
        <p:spPr>
          <a:xfrm>
            <a:off x="3056626" y="184030"/>
            <a:ext cx="6078747" cy="839638"/>
          </a:xfrm>
        </p:spPr>
        <p:txBody>
          <a:bodyPr>
            <a:normAutofit/>
          </a:bodyPr>
          <a:lstStyle/>
          <a:p>
            <a:r>
              <a:rPr lang="en-IN" b="1" dirty="0">
                <a:latin typeface="Times New Roman" panose="02020603050405020304" pitchFamily="18" charset="0"/>
                <a:cs typeface="Times New Roman" panose="02020603050405020304" pitchFamily="18" charset="0"/>
              </a:rPr>
              <a:t>User Rating Distribution</a:t>
            </a:r>
          </a:p>
        </p:txBody>
      </p:sp>
      <p:sp>
        <p:nvSpPr>
          <p:cNvPr id="3" name="Content Placeholder 2">
            <a:extLst>
              <a:ext uri="{FF2B5EF4-FFF2-40B4-BE49-F238E27FC236}">
                <a16:creationId xmlns:a16="http://schemas.microsoft.com/office/drawing/2014/main" id="{52E83FEE-D29E-42EE-17F1-8EF4F844755E}"/>
              </a:ext>
            </a:extLst>
          </p:cNvPr>
          <p:cNvSpPr>
            <a:spLocks noGrp="1"/>
          </p:cNvSpPr>
          <p:nvPr>
            <p:ph idx="1"/>
          </p:nvPr>
        </p:nvSpPr>
        <p:spPr>
          <a:xfrm>
            <a:off x="6515819" y="2260121"/>
            <a:ext cx="5079914" cy="3065253"/>
          </a:xfrm>
        </p:spPr>
        <p:txBody>
          <a:bodyPr>
            <a:noAutofit/>
          </a:bodyPr>
          <a:lstStyle/>
          <a:p>
            <a:pPr algn="just"/>
            <a:r>
              <a:rPr lang="en-IN" sz="2400" dirty="0">
                <a:latin typeface="Times New Roman" panose="02020603050405020304" pitchFamily="18" charset="0"/>
                <a:cs typeface="Times New Roman" panose="02020603050405020304" pitchFamily="18" charset="0"/>
              </a:rPr>
              <a:t>The column chart, User rating distribution this let us know exactly what is the count of ratings for different customer satisfaction levels.</a:t>
            </a:r>
          </a:p>
          <a:p>
            <a:pPr algn="just"/>
            <a:r>
              <a:rPr lang="en-IN" sz="2400" dirty="0">
                <a:latin typeface="Times New Roman" panose="02020603050405020304" pitchFamily="18" charset="0"/>
                <a:cs typeface="Times New Roman" panose="02020603050405020304" pitchFamily="18" charset="0"/>
              </a:rPr>
              <a:t>The most of the count of ratings is below 3 so the </a:t>
            </a:r>
            <a:r>
              <a:rPr lang="en-IN" sz="2400" dirty="0" err="1">
                <a:latin typeface="Times New Roman" panose="02020603050405020304" pitchFamily="18" charset="0"/>
                <a:cs typeface="Times New Roman" panose="02020603050405020304" pitchFamily="18" charset="0"/>
              </a:rPr>
              <a:t>Astroguru</a:t>
            </a:r>
            <a:r>
              <a:rPr lang="en-IN" sz="2400" dirty="0">
                <a:latin typeface="Times New Roman" panose="02020603050405020304" pitchFamily="18" charset="0"/>
                <a:cs typeface="Times New Roman" panose="02020603050405020304" pitchFamily="18" charset="0"/>
              </a:rPr>
              <a:t> must try to prove the best service in order to get better ratings.</a:t>
            </a:r>
          </a:p>
        </p:txBody>
      </p:sp>
      <p:pic>
        <p:nvPicPr>
          <p:cNvPr id="5" name="Picture 4">
            <a:extLst>
              <a:ext uri="{FF2B5EF4-FFF2-40B4-BE49-F238E27FC236}">
                <a16:creationId xmlns:a16="http://schemas.microsoft.com/office/drawing/2014/main" id="{0C99798C-8AAE-40C8-FA16-AF4114BEBC72}"/>
              </a:ext>
            </a:extLst>
          </p:cNvPr>
          <p:cNvPicPr>
            <a:picLocks noChangeAspect="1"/>
          </p:cNvPicPr>
          <p:nvPr/>
        </p:nvPicPr>
        <p:blipFill>
          <a:blip r:embed="rId2"/>
          <a:stretch>
            <a:fillRect/>
          </a:stretch>
        </p:blipFill>
        <p:spPr>
          <a:xfrm>
            <a:off x="469074" y="2448232"/>
            <a:ext cx="5940724" cy="4225738"/>
          </a:xfrm>
          <a:prstGeom prst="rect">
            <a:avLst/>
          </a:prstGeom>
        </p:spPr>
      </p:pic>
    </p:spTree>
    <p:extLst>
      <p:ext uri="{BB962C8B-B14F-4D97-AF65-F5344CB8AC3E}">
        <p14:creationId xmlns:p14="http://schemas.microsoft.com/office/powerpoint/2010/main" val="992189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2B1B3-888D-552E-FC4F-405F2C715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2EDF6-FAC8-59FB-019A-5963EA56F7E6}"/>
              </a:ext>
            </a:extLst>
          </p:cNvPr>
          <p:cNvSpPr>
            <a:spLocks noGrp="1"/>
          </p:cNvSpPr>
          <p:nvPr>
            <p:ph type="title"/>
          </p:nvPr>
        </p:nvSpPr>
        <p:spPr>
          <a:xfrm>
            <a:off x="3435817" y="694473"/>
            <a:ext cx="4784785" cy="839638"/>
          </a:xfrm>
        </p:spPr>
        <p:txBody>
          <a:bodyPr>
            <a:normAutofit/>
          </a:bodyPr>
          <a:lstStyle/>
          <a:p>
            <a:r>
              <a:rPr lang="en-IN" b="1" dirty="0">
                <a:latin typeface="Times New Roman" panose="02020603050405020304" pitchFamily="18" charset="0"/>
                <a:cs typeface="Times New Roman" panose="02020603050405020304" pitchFamily="18" charset="0"/>
              </a:rPr>
              <a:t>Top 10 Gurus Rating</a:t>
            </a:r>
          </a:p>
        </p:txBody>
      </p:sp>
      <p:sp>
        <p:nvSpPr>
          <p:cNvPr id="3" name="Content Placeholder 2">
            <a:extLst>
              <a:ext uri="{FF2B5EF4-FFF2-40B4-BE49-F238E27FC236}">
                <a16:creationId xmlns:a16="http://schemas.microsoft.com/office/drawing/2014/main" id="{87ABD276-D9FD-162F-4372-6C366760B5EE}"/>
              </a:ext>
            </a:extLst>
          </p:cNvPr>
          <p:cNvSpPr>
            <a:spLocks noGrp="1"/>
          </p:cNvSpPr>
          <p:nvPr>
            <p:ph idx="1"/>
          </p:nvPr>
        </p:nvSpPr>
        <p:spPr>
          <a:xfrm>
            <a:off x="6560064" y="2718804"/>
            <a:ext cx="5079914" cy="3295291"/>
          </a:xfrm>
        </p:spPr>
        <p:txBody>
          <a:bodyPr>
            <a:noAutofit/>
          </a:bodyPr>
          <a:lstStyle/>
          <a:p>
            <a:pPr algn="just"/>
            <a:r>
              <a:rPr lang="en-IN" sz="2400" dirty="0">
                <a:latin typeface="Times New Roman" panose="02020603050405020304" pitchFamily="18" charset="0"/>
                <a:cs typeface="Times New Roman" panose="02020603050405020304" pitchFamily="18" charset="0"/>
              </a:rPr>
              <a:t>The Top 10 Guru rating chart represents the top 10 best gurus with the highest rating then the other gurus.</a:t>
            </a:r>
          </a:p>
          <a:p>
            <a:pPr algn="just"/>
            <a:r>
              <a:rPr lang="en-IN" sz="2400" dirty="0">
                <a:latin typeface="Times New Roman" panose="02020603050405020304" pitchFamily="18" charset="0"/>
                <a:cs typeface="Times New Roman" panose="02020603050405020304" pitchFamily="18" charset="0"/>
              </a:rPr>
              <a:t>This graph can be used to encourage the top gurus with bonus and increments, and can let them guild other gurus so all of them perform the best possible.</a:t>
            </a:r>
          </a:p>
        </p:txBody>
      </p:sp>
      <p:pic>
        <p:nvPicPr>
          <p:cNvPr id="6" name="Picture 5">
            <a:extLst>
              <a:ext uri="{FF2B5EF4-FFF2-40B4-BE49-F238E27FC236}">
                <a16:creationId xmlns:a16="http://schemas.microsoft.com/office/drawing/2014/main" id="{F68BDF9C-AE40-38EC-43FE-0F2FBB34C0C1}"/>
              </a:ext>
            </a:extLst>
          </p:cNvPr>
          <p:cNvPicPr>
            <a:picLocks noChangeAspect="1"/>
          </p:cNvPicPr>
          <p:nvPr/>
        </p:nvPicPr>
        <p:blipFill>
          <a:blip r:embed="rId2"/>
          <a:srcRect t="1179"/>
          <a:stretch>
            <a:fillRect/>
          </a:stretch>
        </p:blipFill>
        <p:spPr>
          <a:xfrm>
            <a:off x="442821" y="2462981"/>
            <a:ext cx="5653179" cy="4216740"/>
          </a:xfrm>
          <a:prstGeom prst="rect">
            <a:avLst/>
          </a:prstGeom>
        </p:spPr>
      </p:pic>
    </p:spTree>
    <p:extLst>
      <p:ext uri="{BB962C8B-B14F-4D97-AF65-F5344CB8AC3E}">
        <p14:creationId xmlns:p14="http://schemas.microsoft.com/office/powerpoint/2010/main" val="2327169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AAEA2-9C43-C955-21B4-2A68D5499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4F3B5-6608-9323-FD12-63FF24F13DFD}"/>
              </a:ext>
            </a:extLst>
          </p:cNvPr>
          <p:cNvSpPr>
            <a:spLocks noGrp="1"/>
          </p:cNvSpPr>
          <p:nvPr>
            <p:ph type="title"/>
          </p:nvPr>
        </p:nvSpPr>
        <p:spPr>
          <a:xfrm>
            <a:off x="3309668" y="761722"/>
            <a:ext cx="5572663" cy="839638"/>
          </a:xfrm>
        </p:spPr>
        <p:txBody>
          <a:bodyPr>
            <a:normAutofit/>
          </a:bodyPr>
          <a:lstStyle/>
          <a:p>
            <a:r>
              <a:rPr lang="en-IN" b="1" dirty="0">
                <a:latin typeface="Times New Roman" panose="02020603050405020304" pitchFamily="18" charset="0"/>
                <a:cs typeface="Times New Roman" panose="02020603050405020304" pitchFamily="18" charset="0"/>
              </a:rPr>
              <a:t>Hourly Call Distribution</a:t>
            </a:r>
          </a:p>
        </p:txBody>
      </p:sp>
      <p:sp>
        <p:nvSpPr>
          <p:cNvPr id="3" name="Content Placeholder 2">
            <a:extLst>
              <a:ext uri="{FF2B5EF4-FFF2-40B4-BE49-F238E27FC236}">
                <a16:creationId xmlns:a16="http://schemas.microsoft.com/office/drawing/2014/main" id="{1AFEBDA9-92E7-2448-D051-B6B3CC34B877}"/>
              </a:ext>
            </a:extLst>
          </p:cNvPr>
          <p:cNvSpPr>
            <a:spLocks noGrp="1"/>
          </p:cNvSpPr>
          <p:nvPr>
            <p:ph idx="1"/>
          </p:nvPr>
        </p:nvSpPr>
        <p:spPr>
          <a:xfrm>
            <a:off x="6515819" y="2580968"/>
            <a:ext cx="5233358" cy="3847381"/>
          </a:xfrm>
        </p:spPr>
        <p:txBody>
          <a:bodyPr>
            <a:noAutofit/>
          </a:bodyPr>
          <a:lstStyle/>
          <a:p>
            <a:pPr algn="just"/>
            <a:r>
              <a:rPr lang="en-IN" sz="2400" dirty="0">
                <a:latin typeface="Times New Roman" panose="02020603050405020304" pitchFamily="18" charset="0"/>
                <a:cs typeface="Times New Roman" panose="02020603050405020304" pitchFamily="18" charset="0"/>
              </a:rPr>
              <a:t>The graph represents hourly call distribution. We can clearly see the peek call time is between 5 to 16.</a:t>
            </a:r>
          </a:p>
          <a:p>
            <a:pPr algn="just"/>
            <a:r>
              <a:rPr lang="en-IN" sz="2400" dirty="0">
                <a:latin typeface="Times New Roman" panose="02020603050405020304" pitchFamily="18" charset="0"/>
                <a:cs typeface="Times New Roman" panose="02020603050405020304" pitchFamily="18" charset="0"/>
              </a:rPr>
              <a:t>For the better handling in the peak time it is necessary to allocate more agents and distribute the calls evenly.</a:t>
            </a:r>
          </a:p>
          <a:p>
            <a:pPr algn="just"/>
            <a:r>
              <a:rPr lang="en-IN" sz="2400" dirty="0">
                <a:latin typeface="Times New Roman" panose="02020603050405020304" pitchFamily="18" charset="0"/>
                <a:cs typeface="Times New Roman" panose="02020603050405020304" pitchFamily="18" charset="0"/>
              </a:rPr>
              <a:t>Enhancing the call technology and feasible work shifts among the agents will lead to the betterment of customer satisfaction. </a:t>
            </a:r>
          </a:p>
        </p:txBody>
      </p:sp>
      <p:pic>
        <p:nvPicPr>
          <p:cNvPr id="5" name="Picture 4">
            <a:extLst>
              <a:ext uri="{FF2B5EF4-FFF2-40B4-BE49-F238E27FC236}">
                <a16:creationId xmlns:a16="http://schemas.microsoft.com/office/drawing/2014/main" id="{3E29FD8E-CA9B-D294-B5CF-612D41EA5E32}"/>
              </a:ext>
            </a:extLst>
          </p:cNvPr>
          <p:cNvPicPr>
            <a:picLocks noChangeAspect="1"/>
          </p:cNvPicPr>
          <p:nvPr/>
        </p:nvPicPr>
        <p:blipFill>
          <a:blip r:embed="rId2"/>
          <a:srcRect t="1764"/>
          <a:stretch>
            <a:fillRect/>
          </a:stretch>
        </p:blipFill>
        <p:spPr>
          <a:xfrm>
            <a:off x="442823" y="2580968"/>
            <a:ext cx="5994315" cy="4075749"/>
          </a:xfrm>
          <a:prstGeom prst="rect">
            <a:avLst/>
          </a:prstGeom>
        </p:spPr>
      </p:pic>
    </p:spTree>
    <p:extLst>
      <p:ext uri="{BB962C8B-B14F-4D97-AF65-F5344CB8AC3E}">
        <p14:creationId xmlns:p14="http://schemas.microsoft.com/office/powerpoint/2010/main" val="1958651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1CA67-8077-51D0-9D5C-42B44630E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8E398-A8B7-5508-9B25-CD3985975573}"/>
              </a:ext>
            </a:extLst>
          </p:cNvPr>
          <p:cNvSpPr>
            <a:spLocks noGrp="1"/>
          </p:cNvSpPr>
          <p:nvPr>
            <p:ph type="title"/>
          </p:nvPr>
        </p:nvSpPr>
        <p:spPr>
          <a:xfrm>
            <a:off x="4229819" y="767774"/>
            <a:ext cx="3732362" cy="839638"/>
          </a:xfrm>
        </p:spPr>
        <p:txBody>
          <a:bodyPr>
            <a:normAutofit/>
          </a:bodyPr>
          <a:lstStyle/>
          <a:p>
            <a:r>
              <a:rPr lang="en-IN" b="1" dirty="0">
                <a:latin typeface="Times New Roman" panose="02020603050405020304" pitchFamily="18" charset="0"/>
                <a:cs typeface="Times New Roman" panose="02020603050405020304" pitchFamily="18" charset="0"/>
              </a:rPr>
              <a:t>Day wise Calls</a:t>
            </a:r>
          </a:p>
        </p:txBody>
      </p:sp>
      <p:sp>
        <p:nvSpPr>
          <p:cNvPr id="3" name="Content Placeholder 2">
            <a:extLst>
              <a:ext uri="{FF2B5EF4-FFF2-40B4-BE49-F238E27FC236}">
                <a16:creationId xmlns:a16="http://schemas.microsoft.com/office/drawing/2014/main" id="{A56417FD-2B51-348E-8CCB-79D01F3A7D68}"/>
              </a:ext>
            </a:extLst>
          </p:cNvPr>
          <p:cNvSpPr>
            <a:spLocks noGrp="1"/>
          </p:cNvSpPr>
          <p:nvPr>
            <p:ph idx="1"/>
          </p:nvPr>
        </p:nvSpPr>
        <p:spPr>
          <a:xfrm>
            <a:off x="6814869" y="2426898"/>
            <a:ext cx="4826872" cy="2754702"/>
          </a:xfrm>
        </p:spPr>
        <p:txBody>
          <a:bodyPr>
            <a:noAutofit/>
          </a:bodyPr>
          <a:lstStyle/>
          <a:p>
            <a:pPr algn="just"/>
            <a:r>
              <a:rPr lang="en-IN" sz="2400" dirty="0">
                <a:latin typeface="Times New Roman" panose="02020603050405020304" pitchFamily="18" charset="0"/>
                <a:cs typeface="Times New Roman" panose="02020603050405020304" pitchFamily="18" charset="0"/>
              </a:rPr>
              <a:t>The Day wise calls graph gives insights about how many calls where received per day in a week.</a:t>
            </a:r>
          </a:p>
          <a:p>
            <a:pPr algn="just"/>
            <a:r>
              <a:rPr lang="en-IN" sz="2400" dirty="0">
                <a:latin typeface="Times New Roman" panose="02020603050405020304" pitchFamily="18" charset="0"/>
                <a:cs typeface="Times New Roman" panose="02020603050405020304" pitchFamily="18" charset="0"/>
              </a:rPr>
              <a:t>The most of the calls received on Sunday and Monday, where as Thursday received the minimum calls with count of 820.</a:t>
            </a:r>
          </a:p>
        </p:txBody>
      </p:sp>
      <p:pic>
        <p:nvPicPr>
          <p:cNvPr id="6" name="Picture 5">
            <a:extLst>
              <a:ext uri="{FF2B5EF4-FFF2-40B4-BE49-F238E27FC236}">
                <a16:creationId xmlns:a16="http://schemas.microsoft.com/office/drawing/2014/main" id="{1E62C4A8-E91B-88F2-A877-1E4FAC94BF10}"/>
              </a:ext>
            </a:extLst>
          </p:cNvPr>
          <p:cNvPicPr>
            <a:picLocks noChangeAspect="1"/>
          </p:cNvPicPr>
          <p:nvPr/>
        </p:nvPicPr>
        <p:blipFill>
          <a:blip r:embed="rId2"/>
          <a:srcRect l="1241" r="1022"/>
          <a:stretch>
            <a:fillRect/>
          </a:stretch>
        </p:blipFill>
        <p:spPr>
          <a:xfrm>
            <a:off x="550259" y="2426898"/>
            <a:ext cx="6046073" cy="3663328"/>
          </a:xfrm>
          <a:prstGeom prst="rect">
            <a:avLst/>
          </a:prstGeom>
        </p:spPr>
      </p:pic>
    </p:spTree>
    <p:extLst>
      <p:ext uri="{BB962C8B-B14F-4D97-AF65-F5344CB8AC3E}">
        <p14:creationId xmlns:p14="http://schemas.microsoft.com/office/powerpoint/2010/main" val="1979418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6086-56EF-C319-4947-3906C5654649}"/>
              </a:ext>
            </a:extLst>
          </p:cNvPr>
          <p:cNvSpPr>
            <a:spLocks noGrp="1"/>
          </p:cNvSpPr>
          <p:nvPr>
            <p:ph type="title"/>
          </p:nvPr>
        </p:nvSpPr>
        <p:spPr>
          <a:xfrm>
            <a:off x="2618836" y="397001"/>
            <a:ext cx="6954328" cy="713117"/>
          </a:xfrm>
        </p:spPr>
        <p:txBody>
          <a:bodyPr>
            <a:normAutofit/>
          </a:bodyPr>
          <a:lstStyle/>
          <a:p>
            <a:r>
              <a:rPr lang="en-IN" sz="4000" b="1" dirty="0" err="1">
                <a:latin typeface="Times New Roman" panose="02020603050405020304" pitchFamily="18" charset="0"/>
                <a:cs typeface="Times New Roman" panose="02020603050405020304" pitchFamily="18" charset="0"/>
              </a:rPr>
              <a:t>Astrosage</a:t>
            </a:r>
            <a:r>
              <a:rPr lang="en-IN" sz="4000" b="1" dirty="0">
                <a:latin typeface="Times New Roman" panose="02020603050405020304" pitchFamily="18" charset="0"/>
                <a:cs typeface="Times New Roman" panose="02020603050405020304" pitchFamily="18" charset="0"/>
              </a:rPr>
              <a:t> Analysis Dashboard</a:t>
            </a:r>
          </a:p>
        </p:txBody>
      </p:sp>
      <p:pic>
        <p:nvPicPr>
          <p:cNvPr id="4" name="Picture 3">
            <a:extLst>
              <a:ext uri="{FF2B5EF4-FFF2-40B4-BE49-F238E27FC236}">
                <a16:creationId xmlns:a16="http://schemas.microsoft.com/office/drawing/2014/main" id="{B78B454B-B956-0720-C37B-70142635F1BF}"/>
              </a:ext>
            </a:extLst>
          </p:cNvPr>
          <p:cNvPicPr>
            <a:picLocks noChangeAspect="1"/>
          </p:cNvPicPr>
          <p:nvPr/>
        </p:nvPicPr>
        <p:blipFill>
          <a:blip r:embed="rId2"/>
          <a:stretch>
            <a:fillRect/>
          </a:stretch>
        </p:blipFill>
        <p:spPr>
          <a:xfrm>
            <a:off x="322006" y="2334087"/>
            <a:ext cx="11547987" cy="4372585"/>
          </a:xfrm>
          <a:prstGeom prst="rect">
            <a:avLst/>
          </a:prstGeom>
        </p:spPr>
      </p:pic>
    </p:spTree>
    <p:extLst>
      <p:ext uri="{BB962C8B-B14F-4D97-AF65-F5344CB8AC3E}">
        <p14:creationId xmlns:p14="http://schemas.microsoft.com/office/powerpoint/2010/main" val="2116045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51E53-FCC8-CB7B-90B3-3A212392612C}"/>
              </a:ext>
            </a:extLst>
          </p:cNvPr>
          <p:cNvSpPr>
            <a:spLocks noGrp="1"/>
          </p:cNvSpPr>
          <p:nvPr>
            <p:ph type="title"/>
          </p:nvPr>
        </p:nvSpPr>
        <p:spPr>
          <a:xfrm>
            <a:off x="782129" y="258792"/>
            <a:ext cx="10829026" cy="868393"/>
          </a:xfrm>
        </p:spPr>
        <p:txBody>
          <a:bodyPr>
            <a:normAutofit/>
          </a:bodyPr>
          <a:lstStyle/>
          <a:p>
            <a:r>
              <a:rPr lang="en-IN" sz="4000" b="1" dirty="0">
                <a:latin typeface="Times New Roman" panose="02020603050405020304" pitchFamily="18" charset="0"/>
                <a:cs typeface="Times New Roman" panose="02020603050405020304" pitchFamily="18" charset="0"/>
              </a:rPr>
              <a:t>The Dashboard consists of the following metrics</a:t>
            </a:r>
          </a:p>
        </p:txBody>
      </p:sp>
      <p:sp>
        <p:nvSpPr>
          <p:cNvPr id="3" name="Content Placeholder 2">
            <a:extLst>
              <a:ext uri="{FF2B5EF4-FFF2-40B4-BE49-F238E27FC236}">
                <a16:creationId xmlns:a16="http://schemas.microsoft.com/office/drawing/2014/main" id="{AE1B6795-AD1F-4908-DFC7-C569000F3338}"/>
              </a:ext>
            </a:extLst>
          </p:cNvPr>
          <p:cNvSpPr>
            <a:spLocks noGrp="1"/>
          </p:cNvSpPr>
          <p:nvPr>
            <p:ph idx="1"/>
          </p:nvPr>
        </p:nvSpPr>
        <p:spPr>
          <a:xfrm>
            <a:off x="954656" y="1127185"/>
            <a:ext cx="9678931" cy="5848802"/>
          </a:xfrm>
        </p:spPr>
        <p:txBody>
          <a:bodyPr>
            <a:noAutofit/>
          </a:bodyPr>
          <a:lstStyle/>
          <a:p>
            <a:r>
              <a:rPr lang="en-IN" sz="2400" dirty="0">
                <a:highlight>
                  <a:srgbClr val="C0C0C0"/>
                </a:highlight>
                <a:latin typeface="Times New Roman" panose="02020603050405020304" pitchFamily="18" charset="0"/>
                <a:cs typeface="Times New Roman" panose="02020603050405020304" pitchFamily="18" charset="0"/>
              </a:rPr>
              <a:t>There are 6 Dynamic text fields they are </a:t>
            </a:r>
            <a:r>
              <a:rPr lang="en-IN" sz="2400" b="1" dirty="0">
                <a:highlight>
                  <a:srgbClr val="C0C0C0"/>
                </a:highlight>
                <a:latin typeface="Times New Roman" panose="02020603050405020304" pitchFamily="18" charset="0"/>
                <a:cs typeface="Times New Roman" panose="02020603050405020304" pitchFamily="18" charset="0"/>
              </a:rPr>
              <a:t>Total revenue, Total calls, Total chats, Total Gurus, Average rating and Total Gurus Earnings. </a:t>
            </a:r>
          </a:p>
          <a:p>
            <a:r>
              <a:rPr lang="en-IN" sz="2400" dirty="0">
                <a:highlight>
                  <a:srgbClr val="C0C0C0"/>
                </a:highlight>
                <a:latin typeface="Times New Roman" panose="02020603050405020304" pitchFamily="18" charset="0"/>
                <a:cs typeface="Times New Roman" panose="02020603050405020304" pitchFamily="18" charset="0"/>
              </a:rPr>
              <a:t>There 4 visual filters they are </a:t>
            </a:r>
            <a:r>
              <a:rPr lang="en-IN" sz="2400" b="1" dirty="0">
                <a:highlight>
                  <a:srgbClr val="C0C0C0"/>
                </a:highlight>
                <a:latin typeface="Times New Roman" panose="02020603050405020304" pitchFamily="18" charset="0"/>
                <a:cs typeface="Times New Roman" panose="02020603050405020304" pitchFamily="18" charset="0"/>
              </a:rPr>
              <a:t>YEAR, Website, Consultation Type, Day in week</a:t>
            </a:r>
            <a:r>
              <a:rPr lang="en-IN" sz="2400" dirty="0">
                <a:highlight>
                  <a:srgbClr val="C0C0C0"/>
                </a:highlight>
                <a:latin typeface="Times New Roman" panose="02020603050405020304" pitchFamily="18" charset="0"/>
                <a:cs typeface="Times New Roman" panose="02020603050405020304" pitchFamily="18" charset="0"/>
              </a:rPr>
              <a:t>.</a:t>
            </a:r>
          </a:p>
          <a:p>
            <a:r>
              <a:rPr lang="en-IN" sz="2400" dirty="0">
                <a:highlight>
                  <a:srgbClr val="C0C0C0"/>
                </a:highlight>
                <a:latin typeface="Times New Roman" panose="02020603050405020304" pitchFamily="18" charset="0"/>
                <a:cs typeface="Times New Roman" panose="02020603050405020304" pitchFamily="18" charset="0"/>
              </a:rPr>
              <a:t>Pie chart of Category wise revenue.</a:t>
            </a:r>
          </a:p>
          <a:p>
            <a:r>
              <a:rPr lang="en-IN" sz="2400" dirty="0">
                <a:highlight>
                  <a:srgbClr val="C0C0C0"/>
                </a:highlight>
                <a:latin typeface="Times New Roman" panose="02020603050405020304" pitchFamily="18" charset="0"/>
                <a:cs typeface="Times New Roman" panose="02020603050405020304" pitchFamily="18" charset="0"/>
              </a:rPr>
              <a:t>Pie chart of Chat status distribution.</a:t>
            </a:r>
          </a:p>
          <a:p>
            <a:r>
              <a:rPr lang="en-IN" sz="2400" dirty="0">
                <a:highlight>
                  <a:srgbClr val="C0C0C0"/>
                </a:highlight>
                <a:latin typeface="Times New Roman" panose="02020603050405020304" pitchFamily="18" charset="0"/>
                <a:cs typeface="Times New Roman" panose="02020603050405020304" pitchFamily="18" charset="0"/>
              </a:rPr>
              <a:t>Pie chart of Call status distribution.</a:t>
            </a:r>
          </a:p>
          <a:p>
            <a:r>
              <a:rPr lang="en-IN" sz="2400" dirty="0">
                <a:highlight>
                  <a:srgbClr val="C0C0C0"/>
                </a:highlight>
                <a:latin typeface="Times New Roman" panose="02020603050405020304" pitchFamily="18" charset="0"/>
                <a:cs typeface="Times New Roman" panose="02020603050405020304" pitchFamily="18" charset="0"/>
              </a:rPr>
              <a:t>Pie chart of Website wise distribution.</a:t>
            </a:r>
          </a:p>
          <a:p>
            <a:r>
              <a:rPr lang="en-IN" sz="2400" dirty="0">
                <a:highlight>
                  <a:srgbClr val="C0C0C0"/>
                </a:highlight>
                <a:latin typeface="Times New Roman" panose="02020603050405020304" pitchFamily="18" charset="0"/>
                <a:cs typeface="Times New Roman" panose="02020603050405020304" pitchFamily="18" charset="0"/>
              </a:rPr>
              <a:t>Column chart of User rating distribution.</a:t>
            </a:r>
          </a:p>
          <a:p>
            <a:r>
              <a:rPr lang="en-IN" sz="2400" dirty="0">
                <a:highlight>
                  <a:srgbClr val="C0C0C0"/>
                </a:highlight>
                <a:latin typeface="Times New Roman" panose="02020603050405020304" pitchFamily="18" charset="0"/>
                <a:cs typeface="Times New Roman" panose="02020603050405020304" pitchFamily="18" charset="0"/>
              </a:rPr>
              <a:t>Column chart of Top 10 Guru rating.</a:t>
            </a:r>
          </a:p>
          <a:p>
            <a:r>
              <a:rPr lang="en-IN" sz="2400" dirty="0">
                <a:highlight>
                  <a:srgbClr val="C0C0C0"/>
                </a:highlight>
                <a:latin typeface="Times New Roman" panose="02020603050405020304" pitchFamily="18" charset="0"/>
                <a:cs typeface="Times New Roman" panose="02020603050405020304" pitchFamily="18" charset="0"/>
              </a:rPr>
              <a:t>Column chart of Hourly Call Distribution.</a:t>
            </a:r>
          </a:p>
          <a:p>
            <a:r>
              <a:rPr lang="en-IN" sz="2400" dirty="0">
                <a:highlight>
                  <a:srgbClr val="C0C0C0"/>
                </a:highlight>
                <a:latin typeface="Times New Roman" panose="02020603050405020304" pitchFamily="18" charset="0"/>
                <a:cs typeface="Times New Roman" panose="02020603050405020304" pitchFamily="18" charset="0"/>
              </a:rPr>
              <a:t>Column chart of Day wise calls</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71698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DAE2-0872-BF2F-37F9-D7BE46248FFB}"/>
              </a:ext>
            </a:extLst>
          </p:cNvPr>
          <p:cNvSpPr>
            <a:spLocks noGrp="1"/>
          </p:cNvSpPr>
          <p:nvPr>
            <p:ph type="title"/>
          </p:nvPr>
        </p:nvSpPr>
        <p:spPr>
          <a:xfrm>
            <a:off x="1791419" y="97766"/>
            <a:ext cx="8609162" cy="810883"/>
          </a:xfrm>
        </p:spPr>
        <p:txBody>
          <a:bodyPr>
            <a:normAutofit/>
          </a:bodyPr>
          <a:lstStyle/>
          <a:p>
            <a:pPr algn="ctr"/>
            <a:r>
              <a:rPr lang="en-US" b="1" dirty="0">
                <a:highlight>
                  <a:srgbClr val="000000"/>
                </a:highlight>
                <a:latin typeface="Times New Roman" panose="02020603050405020304" pitchFamily="18" charset="0"/>
                <a:ea typeface="Telegraf Bold"/>
                <a:cs typeface="Times New Roman" panose="02020603050405020304" pitchFamily="18" charset="0"/>
                <a:sym typeface="Telegraf Bold"/>
              </a:rPr>
              <a:t>Recommendations</a:t>
            </a:r>
            <a:endParaRPr lang="en-IN" b="1" dirty="0">
              <a:highlight>
                <a:srgbClr val="000000"/>
              </a:highligh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C39F0C-7BC8-8896-DED2-2A30F122E84B}"/>
              </a:ext>
            </a:extLst>
          </p:cNvPr>
          <p:cNvSpPr>
            <a:spLocks noGrp="1"/>
          </p:cNvSpPr>
          <p:nvPr>
            <p:ph idx="1"/>
          </p:nvPr>
        </p:nvSpPr>
        <p:spPr>
          <a:xfrm>
            <a:off x="718868" y="908649"/>
            <a:ext cx="10691004" cy="5561162"/>
          </a:xfrm>
        </p:spPr>
        <p:txBody>
          <a:bodyPr>
            <a:noAutofit/>
          </a:bodyPr>
          <a:lstStyle/>
          <a:p>
            <a:pPr algn="just"/>
            <a:r>
              <a:rPr lang="en-IN" sz="2400" dirty="0">
                <a:highlight>
                  <a:srgbClr val="C0C0C0"/>
                </a:highlight>
                <a:latin typeface="Times New Roman" panose="02020603050405020304" pitchFamily="18" charset="0"/>
                <a:cs typeface="Times New Roman" panose="02020603050405020304" pitchFamily="18" charset="0"/>
              </a:rPr>
              <a:t>Implement AI-powered chatbot systems to automate basic queries and reduce agent workload.</a:t>
            </a:r>
          </a:p>
          <a:p>
            <a:pPr algn="just"/>
            <a:r>
              <a:rPr lang="en-IN" sz="2400" dirty="0">
                <a:highlight>
                  <a:srgbClr val="C0C0C0"/>
                </a:highlight>
                <a:latin typeface="Times New Roman" panose="02020603050405020304" pitchFamily="18" charset="0"/>
                <a:cs typeface="Times New Roman" panose="02020603050405020304" pitchFamily="18" charset="0"/>
              </a:rPr>
              <a:t>Introduce analytics dashboards (Power BI/Tableau) for real-time performance monitoring.</a:t>
            </a:r>
          </a:p>
          <a:p>
            <a:pPr algn="just"/>
            <a:r>
              <a:rPr lang="en-IN" sz="2400" dirty="0">
                <a:highlight>
                  <a:srgbClr val="C0C0C0"/>
                </a:highlight>
                <a:latin typeface="Times New Roman" panose="02020603050405020304" pitchFamily="18" charset="0"/>
                <a:cs typeface="Times New Roman" panose="02020603050405020304" pitchFamily="18" charset="0"/>
              </a:rPr>
              <a:t>Hire additional part-time or full-time agents during peak call periods.</a:t>
            </a:r>
          </a:p>
          <a:p>
            <a:pPr algn="just"/>
            <a:r>
              <a:rPr lang="en-IN" sz="2400" dirty="0">
                <a:highlight>
                  <a:srgbClr val="C0C0C0"/>
                </a:highlight>
                <a:latin typeface="Times New Roman" panose="02020603050405020304" pitchFamily="18" charset="0"/>
                <a:cs typeface="Times New Roman" panose="02020603050405020304" pitchFamily="18" charset="0"/>
              </a:rPr>
              <a:t>Launch automated feedback surveys post-call to measure satisfaction in real time.</a:t>
            </a:r>
          </a:p>
          <a:p>
            <a:pPr algn="just"/>
            <a:r>
              <a:rPr lang="en-IN" sz="2400" dirty="0">
                <a:highlight>
                  <a:srgbClr val="C0C0C0"/>
                </a:highlight>
                <a:latin typeface="Times New Roman" panose="02020603050405020304" pitchFamily="18" charset="0"/>
                <a:cs typeface="Times New Roman" panose="02020603050405020304" pitchFamily="18" charset="0"/>
              </a:rPr>
              <a:t>Automatically directs customer calls to the most suitable agent based on issue type, sentiment, or past interactions.</a:t>
            </a:r>
          </a:p>
          <a:p>
            <a:pPr algn="just"/>
            <a:r>
              <a:rPr lang="en-IN" sz="2400" dirty="0">
                <a:highlight>
                  <a:srgbClr val="C0C0C0"/>
                </a:highlight>
                <a:latin typeface="Times New Roman" panose="02020603050405020304" pitchFamily="18" charset="0"/>
                <a:cs typeface="Times New Roman" panose="02020603050405020304" pitchFamily="18" charset="0"/>
              </a:rPr>
              <a:t>Uses AI to analyse tone, sentiment, and keywords in reviews and recorded calls, Detecting frustrated or unsatisfied customers early.</a:t>
            </a:r>
          </a:p>
          <a:p>
            <a:pPr algn="just"/>
            <a:r>
              <a:rPr lang="en-US" sz="2400" dirty="0">
                <a:highlight>
                  <a:srgbClr val="C0C0C0"/>
                </a:highlight>
                <a:latin typeface="Times New Roman" panose="02020603050405020304" pitchFamily="18" charset="0"/>
                <a:ea typeface="Canva Sans Bold"/>
                <a:cs typeface="Times New Roman" panose="02020603050405020304" pitchFamily="18" charset="0"/>
                <a:sym typeface="Canva Sans Bold"/>
              </a:rPr>
              <a:t>Focusing on call consultations can increase revenue and customers satisfaction.</a:t>
            </a:r>
          </a:p>
          <a:p>
            <a:pPr algn="just"/>
            <a:r>
              <a:rPr lang="en-US" sz="2400" dirty="0">
                <a:highlight>
                  <a:srgbClr val="C0C0C0"/>
                </a:highlight>
                <a:latin typeface="Times New Roman" panose="02020603050405020304" pitchFamily="18" charset="0"/>
                <a:ea typeface="Canva Sans Bold"/>
                <a:cs typeface="Times New Roman" panose="02020603050405020304" pitchFamily="18" charset="0"/>
                <a:sym typeface="Canva Sans Bold"/>
              </a:rPr>
              <a:t>Recognizing top consultants and organizing regular training will ensure consistent service quality.</a:t>
            </a:r>
            <a:endParaRPr lang="en-IN" sz="2400" dirty="0">
              <a:highlight>
                <a:srgbClr val="C0C0C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7821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CCA2-129E-AB0B-5C54-7C9F2CC40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886FD-585C-BDFB-CC2E-32B60390953D}"/>
              </a:ext>
            </a:extLst>
          </p:cNvPr>
          <p:cNvSpPr>
            <a:spLocks noGrp="1"/>
          </p:cNvSpPr>
          <p:nvPr>
            <p:ph type="title"/>
          </p:nvPr>
        </p:nvSpPr>
        <p:spPr>
          <a:xfrm>
            <a:off x="1466491" y="892230"/>
            <a:ext cx="8934090" cy="770627"/>
          </a:xfrm>
        </p:spPr>
        <p:txBody>
          <a:bodyPr>
            <a:normAutofit/>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042308DD-8F83-2862-52A2-F73089EF2DC6}"/>
              </a:ext>
            </a:extLst>
          </p:cNvPr>
          <p:cNvSpPr>
            <a:spLocks noGrp="1"/>
          </p:cNvSpPr>
          <p:nvPr>
            <p:ph idx="1"/>
          </p:nvPr>
        </p:nvSpPr>
        <p:spPr>
          <a:xfrm>
            <a:off x="750498" y="2338313"/>
            <a:ext cx="10691004" cy="5296619"/>
          </a:xfrm>
        </p:spPr>
        <p:txBody>
          <a:bodyPr>
            <a:noAutofit/>
          </a:bodyPr>
          <a:lstStyle/>
          <a:p>
            <a:pPr algn="just">
              <a:lnSpc>
                <a:spcPct val="100000"/>
              </a:lnSpc>
            </a:pPr>
            <a:r>
              <a:rPr lang="en-US" sz="2400" dirty="0">
                <a:latin typeface="Times New Roman" panose="02020603050405020304" pitchFamily="18" charset="0"/>
                <a:cs typeface="Times New Roman" panose="02020603050405020304" pitchFamily="18" charset="0"/>
              </a:rPr>
              <a:t>Today, we've explored the performance of </a:t>
            </a:r>
            <a:r>
              <a:rPr lang="en-US" sz="2400" dirty="0" err="1">
                <a:latin typeface="Times New Roman" panose="02020603050405020304" pitchFamily="18" charset="0"/>
                <a:cs typeface="Times New Roman" panose="02020603050405020304" pitchFamily="18" charset="0"/>
              </a:rPr>
              <a:t>AstroSage's</a:t>
            </a:r>
            <a:r>
              <a:rPr lang="en-US" sz="2400" dirty="0">
                <a:latin typeface="Times New Roman" panose="02020603050405020304" pitchFamily="18" charset="0"/>
                <a:cs typeface="Times New Roman" panose="02020603050405020304" pitchFamily="18" charset="0"/>
              </a:rPr>
              <a:t> call center, revealing valuable insights and identifying opportunities for improvement and betterment of customer satisfaction.</a:t>
            </a:r>
          </a:p>
          <a:p>
            <a:pPr algn="just">
              <a:lnSpc>
                <a:spcPct val="100000"/>
              </a:lnSpc>
            </a:pPr>
            <a:r>
              <a:rPr lang="en-US" sz="2400" dirty="0">
                <a:latin typeface="Times New Roman" panose="02020603050405020304" pitchFamily="18" charset="0"/>
                <a:cs typeface="Times New Roman" panose="02020603050405020304" pitchFamily="18" charset="0"/>
              </a:rPr>
              <a:t>Our analysis has shown that </a:t>
            </a:r>
            <a:r>
              <a:rPr 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 is </a:t>
            </a:r>
            <a:r>
              <a:rPr lang="en-IN" altLang="en-US" sz="2400" dirty="0">
                <a:latin typeface="Times New Roman" panose="02020603050405020304" pitchFamily="18" charset="0"/>
                <a:cs typeface="Times New Roman" panose="02020603050405020304" pitchFamily="18" charset="0"/>
              </a:rPr>
              <a:t>handling large volume of users with less efficiency</a:t>
            </a:r>
            <a:r>
              <a:rPr lang="en-US" sz="2400" dirty="0">
                <a:latin typeface="Times New Roman" panose="02020603050405020304" pitchFamily="18" charset="0"/>
                <a:cs typeface="Times New Roman" panose="02020603050405020304" pitchFamily="18" charset="0"/>
              </a:rPr>
              <a:t>.</a:t>
            </a:r>
          </a:p>
          <a:p>
            <a:pPr algn="just">
              <a:lnSpc>
                <a:spcPct val="100000"/>
              </a:lnSpc>
            </a:pPr>
            <a:r>
              <a:rPr lang="en-US" sz="2400" dirty="0">
                <a:latin typeface="Times New Roman" panose="02020603050405020304" pitchFamily="18" charset="0"/>
                <a:cs typeface="Times New Roman" panose="02020603050405020304" pitchFamily="18" charset="0"/>
              </a:rPr>
              <a:t>However </a:t>
            </a:r>
            <a:r>
              <a:rPr lang="en-IN" altLang="en-US" sz="2400" dirty="0">
                <a:latin typeface="Times New Roman" panose="02020603050405020304" pitchFamily="18" charset="0"/>
                <a:cs typeface="Times New Roman" panose="02020603050405020304" pitchFamily="18" charset="0"/>
              </a:rPr>
              <a:t>some of the users are still not satisfied with the </a:t>
            </a:r>
            <a:r>
              <a:rPr lang="en-IN" altLang="en-US" sz="2400" dirty="0" err="1">
                <a:latin typeface="Times New Roman" panose="02020603050405020304" pitchFamily="18" charset="0"/>
                <a:cs typeface="Times New Roman" panose="02020603050405020304" pitchFamily="18" charset="0"/>
              </a:rPr>
              <a:t>AstroSage</a:t>
            </a:r>
            <a:r>
              <a:rPr lang="en-IN" altLang="en-US" sz="2400" dirty="0">
                <a:latin typeface="Times New Roman" panose="02020603050405020304" pitchFamily="18" charset="0"/>
                <a:cs typeface="Times New Roman" panose="02020603050405020304" pitchFamily="18" charset="0"/>
              </a:rPr>
              <a:t> services due to which average rating was very low, but we have discussed the solutions for </a:t>
            </a:r>
            <a:r>
              <a:rPr lang="en-IN" altLang="en-US" sz="2400" dirty="0" err="1">
                <a:latin typeface="Times New Roman" panose="02020603050405020304" pitchFamily="18" charset="0"/>
                <a:cs typeface="Times New Roman" panose="02020603050405020304" pitchFamily="18" charset="0"/>
              </a:rPr>
              <a:t>enchancment</a:t>
            </a:r>
            <a:r>
              <a:rPr lang="en-IN" altLang="en-US" sz="2400" dirty="0">
                <a:latin typeface="Times New Roman" panose="02020603050405020304" pitchFamily="18" charset="0"/>
                <a:cs typeface="Times New Roman" panose="02020603050405020304" pitchFamily="18" charset="0"/>
              </a:rPr>
              <a:t> of the </a:t>
            </a:r>
            <a:r>
              <a:rPr lang="en-IN" altLang="en-US" sz="2400" dirty="0" err="1">
                <a:latin typeface="Times New Roman" panose="02020603050405020304" pitchFamily="18" charset="0"/>
                <a:cs typeface="Times New Roman" panose="02020603050405020304" pitchFamily="18" charset="0"/>
              </a:rPr>
              <a:t>AstroSage</a:t>
            </a:r>
            <a:r>
              <a:rPr lang="en-US" sz="2400" dirty="0">
                <a:latin typeface="Times New Roman" panose="02020603050405020304" pitchFamily="18" charset="0"/>
                <a:cs typeface="Times New Roman" panose="02020603050405020304" pitchFamily="18" charset="0"/>
              </a:rPr>
              <a:t>.</a:t>
            </a:r>
          </a:p>
          <a:p>
            <a:pPr algn="just">
              <a:lnSpc>
                <a:spcPct val="100000"/>
              </a:lnSpc>
            </a:pPr>
            <a:r>
              <a:rPr lang="en-US" sz="2400" dirty="0">
                <a:latin typeface="Times New Roman" panose="02020603050405020304" pitchFamily="18" charset="0"/>
                <a:cs typeface="Times New Roman" panose="02020603050405020304" pitchFamily="18" charset="0"/>
                <a:sym typeface="Arial"/>
              </a:rPr>
              <a:t>Implementing these recommendations will improve </a:t>
            </a:r>
            <a:r>
              <a:rPr lang="en-US" sz="2400" dirty="0" err="1">
                <a:latin typeface="Times New Roman" panose="02020603050405020304" pitchFamily="18" charset="0"/>
                <a:cs typeface="Times New Roman" panose="02020603050405020304" pitchFamily="18" charset="0"/>
                <a:sym typeface="Arial"/>
              </a:rPr>
              <a:t>AstroSage's</a:t>
            </a:r>
            <a:r>
              <a:rPr lang="en-US" sz="2400" dirty="0">
                <a:latin typeface="Times New Roman" panose="02020603050405020304" pitchFamily="18" charset="0"/>
                <a:cs typeface="Times New Roman" panose="02020603050405020304" pitchFamily="18" charset="0"/>
                <a:sym typeface="Arial"/>
              </a:rPr>
              <a:t> efficiency, customer satisfaction, and market competitiveness.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Comic Sans MS" panose="030F0702030302020204" charset="0"/>
              <a:cs typeface="Comic Sans MS" panose="030F0702030302020204" charset="0"/>
            </a:endParaRPr>
          </a:p>
          <a:p>
            <a:pPr algn="just"/>
            <a:endParaRPr lang="en-US" sz="2400" dirty="0">
              <a:latin typeface="Comic Sans MS" panose="030F0702030302020204" charset="0"/>
              <a:cs typeface="Comic Sans MS" panose="030F0702030302020204"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73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78D0A645-A35D-7F44-4244-A013680DF5AC}"/>
              </a:ext>
            </a:extLst>
          </p:cNvPr>
          <p:cNvPicPr>
            <a:picLocks noChangeAspect="1" noChangeArrowheads="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1232" b="11232"/>
          <a:stretch/>
        </p:blipFill>
        <p:spPr bwMode="auto">
          <a:xfrm>
            <a:off x="1410418" y="1047135"/>
            <a:ext cx="9371163" cy="512408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3295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931</TotalTime>
  <Words>1447</Words>
  <Application>Microsoft Office PowerPoint</Application>
  <PresentationFormat>Widescreen</PresentationFormat>
  <Paragraphs>115</Paragraphs>
  <Slides>21</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SimSun</vt:lpstr>
      <vt:lpstr>Arial</vt:lpstr>
      <vt:lpstr>Calibri</vt:lpstr>
      <vt:lpstr>Century Gothic</vt:lpstr>
      <vt:lpstr>Comic Sans MS</vt:lpstr>
      <vt:lpstr>Sitka Banner</vt:lpstr>
      <vt:lpstr>Sitka Small</vt:lpstr>
      <vt:lpstr>Sitka Text</vt:lpstr>
      <vt:lpstr>Times New Roman</vt:lpstr>
      <vt:lpstr>Wingdings 3</vt:lpstr>
      <vt:lpstr>Ion Boardroom</vt:lpstr>
      <vt:lpstr>Astrosage Analysis</vt:lpstr>
      <vt:lpstr>Introduction to Astrosage</vt:lpstr>
      <vt:lpstr>Problem Statement</vt:lpstr>
      <vt:lpstr>ATTRIBUTES USED</vt:lpstr>
      <vt:lpstr>ATTRIBUTES USED</vt:lpstr>
      <vt:lpstr>ATTRIBUTES USED</vt:lpstr>
      <vt:lpstr>Data Overview</vt:lpstr>
      <vt:lpstr>Analytical approach and Tool</vt:lpstr>
      <vt:lpstr>Category wise revenue</vt:lpstr>
      <vt:lpstr>Chat Status Distribution</vt:lpstr>
      <vt:lpstr>Call Status Distribution</vt:lpstr>
      <vt:lpstr>Website wise Distribution</vt:lpstr>
      <vt:lpstr>User Rating Distribution</vt:lpstr>
      <vt:lpstr>Top 10 Gurus Rating</vt:lpstr>
      <vt:lpstr>Hourly Call Distribution</vt:lpstr>
      <vt:lpstr>Day wise Calls</vt:lpstr>
      <vt:lpstr>Astrosage Analysis Dashboard</vt:lpstr>
      <vt:lpstr>The Dashboard consists of the following metrics</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kumar</dc:creator>
  <cp:lastModifiedBy>Priya</cp:lastModifiedBy>
  <cp:revision>8</cp:revision>
  <dcterms:created xsi:type="dcterms:W3CDTF">2025-10-11T09:02:02Z</dcterms:created>
  <dcterms:modified xsi:type="dcterms:W3CDTF">2026-03-05T20:05:50Z</dcterms:modified>
</cp:coreProperties>
</file>